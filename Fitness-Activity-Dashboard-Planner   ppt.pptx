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Manrope" panose="020B0604020202020204" charset="0"/>
      <p:regular r:id="rId11"/>
    </p:embeddedFont>
    <p:embeddedFont>
      <p:font typeface="Manrope Bold" panose="020B0604020202020204" charset="0"/>
      <p:regular r:id="rId12"/>
    </p:embeddedFont>
    <p:embeddedFont>
      <p:font typeface="Manrope SemiBold" panose="020B0604020202020204" charset="0"/>
      <p:regular r:id="rId13"/>
    </p:embeddedFont>
    <p:embeddedFont>
      <p:font typeface="Neue Haas Grotesk Text Pro" panose="020B0504020202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1004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domain. The idea is to put daily activity tracking and workout planning in one approachable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flow left to right: User Input → Activity Tracking → Data Processing → Dashboard Visualization → Progress Monitoring.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uses illustrative values, not real user data. Weekly completion rises overall from Monday to Sunday, with variation during the week. These values demonstrate the interface, not measured health outcomes.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future capabilities rather than claims about the current implementation. Close with the project's promise: Plan Your Fitness. Track Your Progress. Achieve Your Goals.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142458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800167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10/10/2026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45829165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10/10/2026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0665578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10/10/2026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3471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10/10/2026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64040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10/10/2026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9595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4717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10/10/2026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3328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10/10/2026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899226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10/10/2026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151858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10/10/2026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01892432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10/10/2026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6365524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10/10/2026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1805137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10/10/2026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6986197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10/10/2026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34037581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10/10/2026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58504882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10/10/2026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21603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10/10/2026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95986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10/10/2026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5330094"/>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10/10/2026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06818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694205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956835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41304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10/10/2026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298208083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10/10/2026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33113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10/10/2026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71857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bg>
      <p:bgPr>
        <a:solidFill>
          <a:srgbClr val="FEFD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38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10/10/2026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95676589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Lst>
  <p:hf sldNum="0" hdr="0" ftr="0" dt="0"/>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20.png"/><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113A14"/>
          </a:solidFill>
          <a:ln/>
        </p:spPr>
        <p:txBody>
          <a:bodyPr/>
          <a:lstStyle/>
          <a:p>
            <a:endParaRPr lang="en-IN" dirty="0"/>
          </a:p>
        </p:txBody>
      </p:sp>
      <p:sp>
        <p:nvSpPr>
          <p:cNvPr id="5" name="Text 3"/>
          <p:cNvSpPr/>
          <p:nvPr/>
        </p:nvSpPr>
        <p:spPr>
          <a:xfrm>
            <a:off x="468499" y="1177855"/>
            <a:ext cx="5994250" cy="1168400"/>
          </a:xfrm>
          <a:prstGeom prst="rect">
            <a:avLst/>
          </a:prstGeom>
          <a:noFill/>
          <a:ln/>
        </p:spPr>
        <p:txBody>
          <a:bodyPr wrap="square" lIns="0" tIns="0" rIns="0" bIns="0" rtlCol="0" anchor="t">
            <a:normAutofit lnSpcReduction="10000"/>
          </a:bodyPr>
          <a:lstStyle/>
          <a:p>
            <a:pPr marL="0" indent="0" algn="l">
              <a:lnSpc>
                <a:spcPct val="83000"/>
              </a:lnSpc>
              <a:buNone/>
            </a:pPr>
            <a:r>
              <a:rPr lang="en-US" sz="4600" b="1" dirty="0">
                <a:solidFill>
                  <a:srgbClr val="FFFFFF"/>
                </a:solidFill>
                <a:latin typeface="Manrope Bold" pitchFamily="34" charset="0"/>
                <a:ea typeface="Manrope Bold" pitchFamily="34" charset="-122"/>
                <a:cs typeface="Manrope Bold" pitchFamily="34" charset="-120"/>
              </a:rPr>
              <a:t>Fitness Activity</a:t>
            </a:r>
            <a:endParaRPr lang="en-US" sz="4600" dirty="0"/>
          </a:p>
          <a:p>
            <a:pPr marL="0" indent="0" algn="l">
              <a:lnSpc>
                <a:spcPct val="83000"/>
              </a:lnSpc>
              <a:buNone/>
            </a:pPr>
            <a:r>
              <a:rPr lang="en-US" sz="4600" b="1" dirty="0">
                <a:solidFill>
                  <a:srgbClr val="FFFFFF"/>
                </a:solidFill>
                <a:latin typeface="Manrope Bold" pitchFamily="34" charset="0"/>
                <a:ea typeface="Manrope Bold" pitchFamily="34" charset="-122"/>
                <a:cs typeface="Manrope Bold" pitchFamily="34" charset="-120"/>
              </a:rPr>
              <a:t>Dashboard Planner</a:t>
            </a:r>
            <a:endParaRPr lang="en-US" sz="4600" dirty="0"/>
          </a:p>
        </p:txBody>
      </p:sp>
      <p:sp>
        <p:nvSpPr>
          <p:cNvPr id="6" name="Text 4"/>
          <p:cNvSpPr/>
          <p:nvPr/>
        </p:nvSpPr>
        <p:spPr>
          <a:xfrm>
            <a:off x="468499" y="2711450"/>
            <a:ext cx="5994250"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A smart dashboard that helps users track daily fitness activities and plan their workouts.</a:t>
            </a:r>
            <a:endParaRPr lang="en-US" sz="2000" dirty="0"/>
          </a:p>
        </p:txBody>
      </p:sp>
      <p:sp>
        <p:nvSpPr>
          <p:cNvPr id="7" name="Text 5"/>
          <p:cNvSpPr/>
          <p:nvPr/>
        </p:nvSpPr>
        <p:spPr>
          <a:xfrm>
            <a:off x="581786" y="3735048"/>
            <a:ext cx="6603835" cy="266700"/>
          </a:xfrm>
          <a:prstGeom prst="rect">
            <a:avLst/>
          </a:prstGeom>
          <a:noFill/>
          <a:ln/>
        </p:spPr>
        <p:txBody>
          <a:bodyPr wrap="none" lIns="0" tIns="0" rIns="0" bIns="0" rtlCol="0" anchor="t"/>
          <a:lstStyle/>
          <a:p>
            <a:pPr marL="0" indent="0" algn="l">
              <a:lnSpc>
                <a:spcPct val="125000"/>
              </a:lnSpc>
              <a:buNone/>
            </a:pPr>
            <a:r>
              <a:rPr lang="en-US" sz="2000" u="sng" dirty="0">
                <a:solidFill>
                  <a:srgbClr val="FFFFFF"/>
                </a:solidFill>
                <a:latin typeface="Manrope" pitchFamily="34" charset="0"/>
                <a:ea typeface="Manrope" pitchFamily="34" charset="-122"/>
                <a:cs typeface="Manrope" pitchFamily="34" charset="-120"/>
              </a:rPr>
              <a:t>Team Members</a:t>
            </a:r>
            <a:r>
              <a:rPr lang="en-US" sz="2000" dirty="0">
                <a:solidFill>
                  <a:srgbClr val="FFFFFF"/>
                </a:solidFill>
                <a:latin typeface="Manrope" pitchFamily="34" charset="0"/>
                <a:ea typeface="Manrope" pitchFamily="34" charset="-122"/>
                <a:cs typeface="Manrope" pitchFamily="34" charset="-120"/>
              </a:rPr>
              <a:t>: [PRANAY.CH]</a:t>
            </a:r>
          </a:p>
          <a:p>
            <a:pPr marL="0" indent="0" algn="l">
              <a:lnSpc>
                <a:spcPct val="125000"/>
              </a:lnSpc>
              <a:buNone/>
            </a:pPr>
            <a:r>
              <a:rPr lang="en-US" sz="2000" dirty="0"/>
              <a:t>                             </a:t>
            </a:r>
            <a:r>
              <a:rPr lang="en-US" sz="2000" dirty="0">
                <a:solidFill>
                  <a:schemeClr val="bg2"/>
                </a:solidFill>
              </a:rPr>
              <a:t>[A.SWARAJ KUMAR]</a:t>
            </a:r>
          </a:p>
          <a:p>
            <a:pPr marL="0" indent="0" algn="l">
              <a:lnSpc>
                <a:spcPct val="125000"/>
              </a:lnSpc>
              <a:buNone/>
            </a:pPr>
            <a:r>
              <a:rPr lang="en-US" sz="2000" dirty="0">
                <a:solidFill>
                  <a:schemeClr val="bg2"/>
                </a:solidFill>
              </a:rPr>
              <a:t>                             [K.YAKSHIT]</a:t>
            </a:r>
          </a:p>
          <a:p>
            <a:pPr marL="0" indent="0" algn="l">
              <a:lnSpc>
                <a:spcPct val="125000"/>
              </a:lnSpc>
              <a:buNone/>
            </a:pPr>
            <a:r>
              <a:rPr lang="en-US" sz="2000" dirty="0">
                <a:solidFill>
                  <a:schemeClr val="bg2"/>
                </a:solidFill>
              </a:rPr>
              <a:t>                             [CH.NEERAJ]</a:t>
            </a:r>
          </a:p>
        </p:txBody>
      </p:sp>
      <p:pic>
        <p:nvPicPr>
          <p:cNvPr id="8"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876678" cy="6858000"/>
          </a:xfrm>
          <a:prstGeom prst="rect">
            <a:avLst/>
          </a:prstGeom>
        </p:spPr>
      </p:pic>
      <p:sp>
        <p:nvSpPr>
          <p:cNvPr id="3" name="Text 0"/>
          <p:cNvSpPr/>
          <p:nvPr/>
        </p:nvSpPr>
        <p:spPr>
          <a:xfrm>
            <a:off x="5486263" y="596988"/>
            <a:ext cx="6095848"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b="1" dirty="0">
                <a:solidFill>
                  <a:srgbClr val="2B2B2B"/>
                </a:solidFill>
                <a:latin typeface="Manrope Bold" pitchFamily="34" charset="0"/>
                <a:ea typeface="Manrope Bold" pitchFamily="34" charset="-122"/>
                <a:cs typeface="Manrope Bold" pitchFamily="34" charset="-120"/>
              </a:rPr>
              <a:t>Staying consistent is hard without clear </a:t>
            </a:r>
            <a:r>
              <a:rPr lang="en-US" sz="3200" b="1" u="sng" dirty="0">
                <a:solidFill>
                  <a:srgbClr val="2B2B2B"/>
                </a:solidFill>
                <a:latin typeface="Manrope Bold" pitchFamily="34" charset="0"/>
                <a:ea typeface="Manrope Bold" pitchFamily="34" charset="-122"/>
                <a:cs typeface="Manrope Bold" pitchFamily="34" charset="-120"/>
              </a:rPr>
              <a:t>tracking</a:t>
            </a:r>
            <a:endParaRPr lang="en-US" sz="3200" dirty="0"/>
          </a:p>
        </p:txBody>
      </p:sp>
      <p:sp>
        <p:nvSpPr>
          <p:cNvPr id="4" name="Shape 1"/>
          <p:cNvSpPr/>
          <p:nvPr/>
        </p:nvSpPr>
        <p:spPr>
          <a:xfrm>
            <a:off x="5486263" y="1678186"/>
            <a:ext cx="6095848" cy="1451372"/>
          </a:xfrm>
          <a:custGeom>
            <a:avLst/>
            <a:gdLst/>
            <a:ahLst/>
            <a:cxnLst/>
            <a:rect l="l" t="t" r="r" b="b"/>
            <a:pathLst>
              <a:path w="6095848" h="1451372">
                <a:moveTo>
                  <a:pt x="62228" y="0"/>
                </a:moveTo>
                <a:lnTo>
                  <a:pt x="6033619" y="0"/>
                </a:lnTo>
                <a:arcTo wR="62228" hR="62230" stAng="16200000" swAng="5400000"/>
                <a:lnTo>
                  <a:pt x="6095848" y="1451372"/>
                </a:lnTo>
                <a:lnTo>
                  <a:pt x="0" y="1451372"/>
                </a:lnTo>
                <a:lnTo>
                  <a:pt x="0" y="62230"/>
                </a:lnTo>
                <a:arcTo wR="62228" hR="62230" stAng="10800000" swAng="5400000"/>
                <a:close/>
              </a:path>
            </a:pathLst>
          </a:custGeom>
          <a:solidFill>
            <a:srgbClr val="113A14"/>
          </a:solidFill>
          <a:ln/>
        </p:spPr>
      </p:sp>
      <p:pic>
        <p:nvPicPr>
          <p:cNvPr id="5" name="Image 1" descr="preencoded.png"/>
          <p:cNvPicPr>
            <a:picLocks noChangeAspect="1"/>
          </p:cNvPicPr>
          <p:nvPr/>
        </p:nvPicPr>
        <p:blipFill>
          <a:blip r:embed="rId4"/>
          <a:stretch>
            <a:fillRect/>
          </a:stretch>
        </p:blipFill>
        <p:spPr>
          <a:xfrm>
            <a:off x="5714857" y="1906786"/>
            <a:ext cx="355591" cy="355600"/>
          </a:xfrm>
          <a:prstGeom prst="rect">
            <a:avLst/>
          </a:prstGeom>
        </p:spPr>
      </p:pic>
      <p:sp>
        <p:nvSpPr>
          <p:cNvPr id="6" name="Text 2"/>
          <p:cNvSpPr/>
          <p:nvPr/>
        </p:nvSpPr>
        <p:spPr>
          <a:xfrm>
            <a:off x="6248244" y="1930070"/>
            <a:ext cx="5105272"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Routines slip</a:t>
            </a:r>
            <a:endParaRPr lang="en-US" sz="2000" dirty="0"/>
          </a:p>
        </p:txBody>
      </p:sp>
      <p:sp>
        <p:nvSpPr>
          <p:cNvPr id="7" name="Text 3"/>
          <p:cNvSpPr/>
          <p:nvPr/>
        </p:nvSpPr>
        <p:spPr>
          <a:xfrm>
            <a:off x="6248244" y="2348111"/>
            <a:ext cx="5333867"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Many people struggle to keep a regular fitness routine.</a:t>
            </a:r>
            <a:endParaRPr lang="en-US" sz="1400" dirty="0"/>
          </a:p>
        </p:txBody>
      </p:sp>
      <p:sp>
        <p:nvSpPr>
          <p:cNvPr id="8" name="Shape 4"/>
          <p:cNvSpPr/>
          <p:nvPr/>
        </p:nvSpPr>
        <p:spPr>
          <a:xfrm>
            <a:off x="5486263" y="3129558"/>
            <a:ext cx="6095848" cy="1451471"/>
          </a:xfrm>
          <a:prstGeom prst="rect">
            <a:avLst/>
          </a:prstGeom>
          <a:solidFill>
            <a:srgbClr val="113A14"/>
          </a:solidFill>
          <a:ln/>
        </p:spPr>
      </p:sp>
      <p:pic>
        <p:nvPicPr>
          <p:cNvPr id="9" name="Image 2" descr="preencoded.png"/>
          <p:cNvPicPr>
            <a:picLocks noChangeAspect="1"/>
          </p:cNvPicPr>
          <p:nvPr/>
        </p:nvPicPr>
        <p:blipFill>
          <a:blip r:embed="rId5"/>
          <a:stretch>
            <a:fillRect/>
          </a:stretch>
        </p:blipFill>
        <p:spPr>
          <a:xfrm>
            <a:off x="5714857" y="3358158"/>
            <a:ext cx="355591" cy="355600"/>
          </a:xfrm>
          <a:prstGeom prst="rect">
            <a:avLst/>
          </a:prstGeom>
        </p:spPr>
      </p:pic>
      <p:sp>
        <p:nvSpPr>
          <p:cNvPr id="10" name="Text 5"/>
          <p:cNvSpPr/>
          <p:nvPr/>
        </p:nvSpPr>
        <p:spPr>
          <a:xfrm>
            <a:off x="6248244" y="3381441"/>
            <a:ext cx="5105272"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Tracking gets scattered</a:t>
            </a:r>
            <a:endParaRPr lang="en-US" sz="2000" dirty="0"/>
          </a:p>
        </p:txBody>
      </p:sp>
      <p:sp>
        <p:nvSpPr>
          <p:cNvPr id="11" name="Text 6"/>
          <p:cNvSpPr/>
          <p:nvPr/>
        </p:nvSpPr>
        <p:spPr>
          <a:xfrm>
            <a:off x="6248244" y="3799483"/>
            <a:ext cx="5333867"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Steps, calories, workouts, and water are hard to track.</a:t>
            </a:r>
            <a:endParaRPr lang="en-US" sz="1400" dirty="0"/>
          </a:p>
        </p:txBody>
      </p:sp>
      <p:sp>
        <p:nvSpPr>
          <p:cNvPr id="12" name="Shape 7"/>
          <p:cNvSpPr/>
          <p:nvPr/>
        </p:nvSpPr>
        <p:spPr>
          <a:xfrm>
            <a:off x="5486263" y="4581029"/>
            <a:ext cx="6095848" cy="1718171"/>
          </a:xfrm>
          <a:custGeom>
            <a:avLst/>
            <a:gdLst/>
            <a:ahLst/>
            <a:cxnLst/>
            <a:rect l="l" t="t" r="r" b="b"/>
            <a:pathLst>
              <a:path w="6095848" h="1718171">
                <a:moveTo>
                  <a:pt x="0" y="0"/>
                </a:moveTo>
                <a:lnTo>
                  <a:pt x="6095848" y="0"/>
                </a:lnTo>
                <a:lnTo>
                  <a:pt x="6095848" y="1655941"/>
                </a:lnTo>
                <a:arcTo wR="62228" hR="62230" stAng="0" swAng="5400000"/>
                <a:lnTo>
                  <a:pt x="62228" y="1718171"/>
                </a:lnTo>
                <a:arcTo wR="62228" hR="62230" stAng="5400000" swAng="5400000"/>
                <a:lnTo>
                  <a:pt x="0" y="0"/>
                </a:lnTo>
                <a:close/>
              </a:path>
            </a:pathLst>
          </a:custGeom>
          <a:solidFill>
            <a:srgbClr val="113A14"/>
          </a:solidFill>
          <a:ln/>
        </p:spPr>
      </p:sp>
      <p:pic>
        <p:nvPicPr>
          <p:cNvPr id="13" name="Image 3" descr="preencoded.png"/>
          <p:cNvPicPr>
            <a:picLocks noChangeAspect="1"/>
          </p:cNvPicPr>
          <p:nvPr/>
        </p:nvPicPr>
        <p:blipFill>
          <a:blip r:embed="rId6"/>
          <a:stretch>
            <a:fillRect/>
          </a:stretch>
        </p:blipFill>
        <p:spPr>
          <a:xfrm>
            <a:off x="5714857" y="4809629"/>
            <a:ext cx="355591" cy="355600"/>
          </a:xfrm>
          <a:prstGeom prst="rect">
            <a:avLst/>
          </a:prstGeom>
        </p:spPr>
      </p:pic>
      <p:sp>
        <p:nvSpPr>
          <p:cNvPr id="14" name="Text 8"/>
          <p:cNvSpPr/>
          <p:nvPr/>
        </p:nvSpPr>
        <p:spPr>
          <a:xfrm>
            <a:off x="6248244" y="4832912"/>
            <a:ext cx="5105272"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Goals stay unclear</a:t>
            </a:r>
            <a:endParaRPr lang="en-US" sz="2000" dirty="0"/>
          </a:p>
        </p:txBody>
      </p:sp>
      <p:sp>
        <p:nvSpPr>
          <p:cNvPr id="15" name="Text 9"/>
          <p:cNvSpPr/>
          <p:nvPr/>
        </p:nvSpPr>
        <p:spPr>
          <a:xfrm>
            <a:off x="6248244" y="5250954"/>
            <a:ext cx="5105272"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Users can't tell if they're hitting their goals. No planning leads to inconsistent habits.</a:t>
            </a:r>
            <a:endParaRPr lang="en-US" sz="1400" dirty="0"/>
          </a:p>
        </p:txBody>
      </p:sp>
      <p:sp>
        <p:nvSpPr>
          <p:cNvPr id="16" name="Shape 10"/>
          <p:cNvSpPr/>
          <p:nvPr/>
        </p:nvSpPr>
        <p:spPr>
          <a:xfrm>
            <a:off x="5486263" y="3123208"/>
            <a:ext cx="6095848" cy="12700"/>
          </a:xfrm>
          <a:prstGeom prst="rect">
            <a:avLst/>
          </a:prstGeom>
          <a:solidFill>
            <a:srgbClr val="000000">
              <a:alpha val="8000"/>
            </a:srgbClr>
          </a:solidFill>
          <a:ln/>
        </p:spPr>
      </p:sp>
      <p:sp>
        <p:nvSpPr>
          <p:cNvPr id="17" name="Shape 11"/>
          <p:cNvSpPr/>
          <p:nvPr/>
        </p:nvSpPr>
        <p:spPr>
          <a:xfrm>
            <a:off x="5486263" y="4574679"/>
            <a:ext cx="6095848" cy="12700"/>
          </a:xfrm>
          <a:prstGeom prst="rect">
            <a:avLst/>
          </a:prstGeom>
          <a:solidFill>
            <a:srgbClr val="000000">
              <a:alpha val="8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596988"/>
            <a:ext cx="6197445"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b="1" dirty="0">
                <a:solidFill>
                  <a:srgbClr val="2B2B2B"/>
                </a:solidFill>
                <a:latin typeface="Manrope Bold" pitchFamily="34" charset="0"/>
                <a:ea typeface="Manrope Bold" pitchFamily="34" charset="-122"/>
                <a:cs typeface="Manrope Bold" pitchFamily="34" charset="-120"/>
              </a:rPr>
              <a:t>One dashboard for tracking and </a:t>
            </a:r>
            <a:r>
              <a:rPr lang="en-US" sz="3200" b="1" u="sng" dirty="0">
                <a:solidFill>
                  <a:srgbClr val="2B2B2B"/>
                </a:solidFill>
                <a:latin typeface="Manrope Bold" pitchFamily="34" charset="0"/>
                <a:ea typeface="Manrope Bold" pitchFamily="34" charset="-122"/>
                <a:cs typeface="Manrope Bold" pitchFamily="34" charset="-120"/>
              </a:rPr>
              <a:t>planning</a:t>
            </a:r>
            <a:endParaRPr lang="en-US" sz="3200" dirty="0"/>
          </a:p>
        </p:txBody>
      </p:sp>
      <p:sp>
        <p:nvSpPr>
          <p:cNvPr id="3" name="Shape 1"/>
          <p:cNvSpPr/>
          <p:nvPr/>
        </p:nvSpPr>
        <p:spPr>
          <a:xfrm>
            <a:off x="609585" y="1678186"/>
            <a:ext cx="457189" cy="457200"/>
          </a:xfrm>
          <a:prstGeom prst="ellipse">
            <a:avLst/>
          </a:prstGeom>
          <a:solidFill>
            <a:srgbClr val="CBFD3C"/>
          </a:solidFill>
          <a:ln w="6350">
            <a:solidFill>
              <a:srgbClr val="D8D6CD"/>
            </a:solidFill>
            <a:prstDash val="solid"/>
          </a:ln>
        </p:spPr>
      </p:sp>
      <p:pic>
        <p:nvPicPr>
          <p:cNvPr id="4" name="Image 0" descr="preencoded.png"/>
          <p:cNvPicPr>
            <a:picLocks noChangeAspect="1"/>
          </p:cNvPicPr>
          <p:nvPr/>
        </p:nvPicPr>
        <p:blipFill>
          <a:blip r:embed="rId3"/>
          <a:stretch>
            <a:fillRect/>
          </a:stretch>
        </p:blipFill>
        <p:spPr>
          <a:xfrm>
            <a:off x="749281" y="1817886"/>
            <a:ext cx="177796" cy="177800"/>
          </a:xfrm>
          <a:prstGeom prst="rect">
            <a:avLst/>
          </a:prstGeom>
        </p:spPr>
      </p:pic>
      <p:sp>
        <p:nvSpPr>
          <p:cNvPr id="5" name="Text 2"/>
          <p:cNvSpPr/>
          <p:nvPr/>
        </p:nvSpPr>
        <p:spPr>
          <a:xfrm>
            <a:off x="609585" y="2292020"/>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2B2B2B"/>
                </a:solidFill>
                <a:latin typeface="Manrope Bold" pitchFamily="34" charset="0"/>
                <a:ea typeface="Manrope Bold" pitchFamily="34" charset="-122"/>
                <a:cs typeface="Manrope Bold" pitchFamily="34" charset="-120"/>
              </a:rPr>
              <a:t>Track daily</a:t>
            </a:r>
            <a:endParaRPr lang="en-US" sz="2000" dirty="0"/>
          </a:p>
        </p:txBody>
      </p:sp>
      <p:sp>
        <p:nvSpPr>
          <p:cNvPr id="6" name="Text 3"/>
          <p:cNvSpPr/>
          <p:nvPr/>
        </p:nvSpPr>
        <p:spPr>
          <a:xfrm>
            <a:off x="609585" y="2710061"/>
            <a:ext cx="2946326"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797269"/>
                </a:solidFill>
                <a:latin typeface="Manrope" pitchFamily="34" charset="0"/>
                <a:ea typeface="Manrope" pitchFamily="34" charset="-122"/>
                <a:cs typeface="Manrope" pitchFamily="34" charset="-120"/>
              </a:rPr>
              <a:t>Centralized steps, workout duration, calories burned, and water intake.</a:t>
            </a:r>
            <a:endParaRPr lang="en-US" sz="1400" dirty="0"/>
          </a:p>
        </p:txBody>
      </p:sp>
      <p:sp>
        <p:nvSpPr>
          <p:cNvPr id="7" name="Shape 4"/>
          <p:cNvSpPr/>
          <p:nvPr/>
        </p:nvSpPr>
        <p:spPr>
          <a:xfrm>
            <a:off x="3860703" y="1678186"/>
            <a:ext cx="457189" cy="457200"/>
          </a:xfrm>
          <a:prstGeom prst="ellipse">
            <a:avLst/>
          </a:prstGeom>
          <a:solidFill>
            <a:srgbClr val="CBFD3C"/>
          </a:solidFill>
          <a:ln w="6350">
            <a:solidFill>
              <a:srgbClr val="D8D6CD"/>
            </a:solidFill>
            <a:prstDash val="solid"/>
          </a:ln>
        </p:spPr>
      </p:sp>
      <p:pic>
        <p:nvPicPr>
          <p:cNvPr id="8" name="Image 1" descr="preencoded.png"/>
          <p:cNvPicPr>
            <a:picLocks noChangeAspect="1"/>
          </p:cNvPicPr>
          <p:nvPr/>
        </p:nvPicPr>
        <p:blipFill>
          <a:blip r:embed="rId4"/>
          <a:stretch>
            <a:fillRect/>
          </a:stretch>
        </p:blipFill>
        <p:spPr>
          <a:xfrm>
            <a:off x="4000400" y="1817886"/>
            <a:ext cx="177796" cy="177800"/>
          </a:xfrm>
          <a:prstGeom prst="rect">
            <a:avLst/>
          </a:prstGeom>
        </p:spPr>
      </p:pic>
      <p:sp>
        <p:nvSpPr>
          <p:cNvPr id="9" name="Text 5"/>
          <p:cNvSpPr/>
          <p:nvPr/>
        </p:nvSpPr>
        <p:spPr>
          <a:xfrm>
            <a:off x="3860703" y="2292020"/>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2B2B2B"/>
                </a:solidFill>
                <a:latin typeface="Manrope Bold" pitchFamily="34" charset="0"/>
                <a:ea typeface="Manrope Bold" pitchFamily="34" charset="-122"/>
                <a:cs typeface="Manrope Bold" pitchFamily="34" charset="-120"/>
              </a:rPr>
              <a:t>Plan ahead</a:t>
            </a:r>
            <a:endParaRPr lang="en-US" sz="2000" dirty="0"/>
          </a:p>
        </p:txBody>
      </p:sp>
      <p:sp>
        <p:nvSpPr>
          <p:cNvPr id="10" name="Text 6"/>
          <p:cNvSpPr/>
          <p:nvPr/>
        </p:nvSpPr>
        <p:spPr>
          <a:xfrm>
            <a:off x="3860703" y="2710061"/>
            <a:ext cx="2946326"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797269"/>
                </a:solidFill>
                <a:latin typeface="Manrope" pitchFamily="34" charset="0"/>
                <a:ea typeface="Manrope" pitchFamily="34" charset="-122"/>
                <a:cs typeface="Manrope" pitchFamily="34" charset="-120"/>
              </a:rPr>
              <a:t>Personalized daily and weekly workout plans.</a:t>
            </a:r>
            <a:endParaRPr lang="en-US" sz="1400" dirty="0"/>
          </a:p>
        </p:txBody>
      </p:sp>
      <p:sp>
        <p:nvSpPr>
          <p:cNvPr id="11" name="Shape 7"/>
          <p:cNvSpPr/>
          <p:nvPr/>
        </p:nvSpPr>
        <p:spPr>
          <a:xfrm>
            <a:off x="609585" y="4141093"/>
            <a:ext cx="457189" cy="457200"/>
          </a:xfrm>
          <a:prstGeom prst="ellipse">
            <a:avLst/>
          </a:prstGeom>
          <a:solidFill>
            <a:srgbClr val="CBFD3C"/>
          </a:solidFill>
          <a:ln w="6350">
            <a:solidFill>
              <a:srgbClr val="D8D6CD"/>
            </a:solidFill>
            <a:prstDash val="solid"/>
          </a:ln>
        </p:spPr>
      </p:sp>
      <p:pic>
        <p:nvPicPr>
          <p:cNvPr id="12" name="Image 2" descr="preencoded.png"/>
          <p:cNvPicPr>
            <a:picLocks noChangeAspect="1"/>
          </p:cNvPicPr>
          <p:nvPr/>
        </p:nvPicPr>
        <p:blipFill>
          <a:blip r:embed="rId5"/>
          <a:stretch>
            <a:fillRect/>
          </a:stretch>
        </p:blipFill>
        <p:spPr>
          <a:xfrm>
            <a:off x="749281" y="4280793"/>
            <a:ext cx="177796" cy="177800"/>
          </a:xfrm>
          <a:prstGeom prst="rect">
            <a:avLst/>
          </a:prstGeom>
        </p:spPr>
      </p:pic>
      <p:sp>
        <p:nvSpPr>
          <p:cNvPr id="13" name="Text 8"/>
          <p:cNvSpPr/>
          <p:nvPr/>
        </p:nvSpPr>
        <p:spPr>
          <a:xfrm>
            <a:off x="609585" y="4754927"/>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2B2B2B"/>
                </a:solidFill>
                <a:latin typeface="Manrope Bold" pitchFamily="34" charset="0"/>
                <a:ea typeface="Manrope Bold" pitchFamily="34" charset="-122"/>
                <a:cs typeface="Manrope Bold" pitchFamily="34" charset="-120"/>
              </a:rPr>
              <a:t>See progress</a:t>
            </a:r>
            <a:endParaRPr lang="en-US" sz="2000" dirty="0"/>
          </a:p>
        </p:txBody>
      </p:sp>
      <p:sp>
        <p:nvSpPr>
          <p:cNvPr id="14" name="Text 9"/>
          <p:cNvSpPr/>
          <p:nvPr/>
        </p:nvSpPr>
        <p:spPr>
          <a:xfrm>
            <a:off x="609585" y="5172968"/>
            <a:ext cx="2946326"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797269"/>
                </a:solidFill>
                <a:latin typeface="Manrope" pitchFamily="34" charset="0"/>
                <a:ea typeface="Manrope" pitchFamily="34" charset="-122"/>
                <a:cs typeface="Manrope" pitchFamily="34" charset="-120"/>
              </a:rPr>
              <a:t>Progress charts and goal completion indicators.</a:t>
            </a:r>
            <a:endParaRPr lang="en-US" sz="1400" dirty="0"/>
          </a:p>
        </p:txBody>
      </p:sp>
      <p:sp>
        <p:nvSpPr>
          <p:cNvPr id="15" name="Shape 10"/>
          <p:cNvSpPr/>
          <p:nvPr/>
        </p:nvSpPr>
        <p:spPr>
          <a:xfrm>
            <a:off x="3860703" y="4141093"/>
            <a:ext cx="457189" cy="457200"/>
          </a:xfrm>
          <a:prstGeom prst="ellipse">
            <a:avLst/>
          </a:prstGeom>
          <a:solidFill>
            <a:srgbClr val="CBFD3C"/>
          </a:solidFill>
          <a:ln w="6350">
            <a:solidFill>
              <a:srgbClr val="D8D6CD"/>
            </a:solidFill>
            <a:prstDash val="solid"/>
          </a:ln>
        </p:spPr>
      </p:sp>
      <p:pic>
        <p:nvPicPr>
          <p:cNvPr id="16" name="Image 3" descr="preencoded.png"/>
          <p:cNvPicPr>
            <a:picLocks noChangeAspect="1"/>
          </p:cNvPicPr>
          <p:nvPr/>
        </p:nvPicPr>
        <p:blipFill>
          <a:blip r:embed="rId6"/>
          <a:stretch>
            <a:fillRect/>
          </a:stretch>
        </p:blipFill>
        <p:spPr>
          <a:xfrm>
            <a:off x="4000400" y="4280793"/>
            <a:ext cx="177796" cy="177800"/>
          </a:xfrm>
          <a:prstGeom prst="rect">
            <a:avLst/>
          </a:prstGeom>
        </p:spPr>
      </p:pic>
      <p:sp>
        <p:nvSpPr>
          <p:cNvPr id="17" name="Text 11"/>
          <p:cNvSpPr/>
          <p:nvPr/>
        </p:nvSpPr>
        <p:spPr>
          <a:xfrm>
            <a:off x="3860703" y="4754927"/>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2B2B2B"/>
                </a:solidFill>
                <a:latin typeface="Manrope Bold" pitchFamily="34" charset="0"/>
                <a:ea typeface="Manrope Bold" pitchFamily="34" charset="-122"/>
                <a:cs typeface="Manrope Bold" pitchFamily="34" charset="-120"/>
              </a:rPr>
              <a:t>Keep it simple</a:t>
            </a:r>
            <a:endParaRPr lang="en-US" sz="2000" dirty="0"/>
          </a:p>
        </p:txBody>
      </p:sp>
      <p:sp>
        <p:nvSpPr>
          <p:cNvPr id="18" name="Text 12"/>
          <p:cNvSpPr/>
          <p:nvPr/>
        </p:nvSpPr>
        <p:spPr>
          <a:xfrm>
            <a:off x="3860703" y="5172968"/>
            <a:ext cx="2946326"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797269"/>
                </a:solidFill>
                <a:latin typeface="Manrope" pitchFamily="34" charset="0"/>
                <a:ea typeface="Manrope" pitchFamily="34" charset="-122"/>
                <a:cs typeface="Manrope" pitchFamily="34" charset="-120"/>
              </a:rPr>
              <a:t>A user-friendly interface for everyday use.</a:t>
            </a:r>
            <a:endParaRPr lang="en-US" sz="1400" dirty="0"/>
          </a:p>
        </p:txBody>
      </p:sp>
      <p:sp>
        <p:nvSpPr>
          <p:cNvPr id="19" name="Shape 13"/>
          <p:cNvSpPr/>
          <p:nvPr/>
        </p:nvSpPr>
        <p:spPr>
          <a:xfrm>
            <a:off x="7315017" y="0"/>
            <a:ext cx="4876678" cy="6858000"/>
          </a:xfrm>
          <a:prstGeom prst="rect">
            <a:avLst/>
          </a:prstGeom>
          <a:solidFill>
            <a:srgbClr val="113A14"/>
          </a:solidFill>
          <a:ln/>
        </p:spPr>
      </p:sp>
      <p:pic>
        <p:nvPicPr>
          <p:cNvPr id="20" name="Image 4" descr="preencoded.png"/>
          <p:cNvPicPr>
            <a:picLocks noChangeAspect="1"/>
          </p:cNvPicPr>
          <p:nvPr/>
        </p:nvPicPr>
        <p:blipFill>
          <a:blip r:embed="rId7"/>
          <a:stretch>
            <a:fillRect/>
          </a:stretch>
        </p:blipFill>
        <p:spPr>
          <a:xfrm>
            <a:off x="7645209" y="330200"/>
            <a:ext cx="4216295" cy="6197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546188"/>
            <a:ext cx="7010225" cy="893961"/>
          </a:xfrm>
          <a:prstGeom prst="rect">
            <a:avLst/>
          </a:prstGeom>
          <a:noFill/>
          <a:ln/>
        </p:spPr>
        <p:txBody>
          <a:bodyPr wrap="square" lIns="0" tIns="0" rIns="0" bIns="0" rtlCol="0" anchor="t">
            <a:normAutofit lnSpcReduction="10000"/>
          </a:bodyPr>
          <a:lstStyle/>
          <a:p>
            <a:pPr marL="0" indent="0" algn="l">
              <a:lnSpc>
                <a:spcPct val="92000"/>
              </a:lnSpc>
              <a:buNone/>
            </a:pPr>
            <a:r>
              <a:rPr lang="en-US" sz="3200" b="1" dirty="0">
                <a:solidFill>
                  <a:srgbClr val="2B2B2B"/>
                </a:solidFill>
                <a:latin typeface="Manrope Bold" pitchFamily="34" charset="0"/>
                <a:ea typeface="Manrope Bold" pitchFamily="34" charset="-122"/>
                <a:cs typeface="Manrope Bold" pitchFamily="34" charset="-120"/>
              </a:rPr>
              <a:t>From daily input to</a:t>
            </a:r>
            <a:endParaRPr lang="en-US" sz="3200" dirty="0"/>
          </a:p>
          <a:p>
            <a:pPr marL="0" indent="0" algn="l">
              <a:lnSpc>
                <a:spcPct val="92000"/>
              </a:lnSpc>
              <a:buNone/>
            </a:pPr>
            <a:r>
              <a:rPr lang="en-US" sz="3200" b="1" u="sng" dirty="0">
                <a:solidFill>
                  <a:srgbClr val="2B2B2B"/>
                </a:solidFill>
                <a:latin typeface="Manrope Bold" pitchFamily="34" charset="0"/>
                <a:ea typeface="Manrope Bold" pitchFamily="34" charset="-122"/>
                <a:cs typeface="Manrope Bold" pitchFamily="34" charset="-120"/>
              </a:rPr>
              <a:t>progress review</a:t>
            </a:r>
            <a:endParaRPr lang="en-US" sz="3200" dirty="0"/>
          </a:p>
        </p:txBody>
      </p:sp>
      <p:sp>
        <p:nvSpPr>
          <p:cNvPr id="3" name="Text 1"/>
          <p:cNvSpPr/>
          <p:nvPr/>
        </p:nvSpPr>
        <p:spPr>
          <a:xfrm>
            <a:off x="609585" y="1558595"/>
            <a:ext cx="7010225" cy="279400"/>
          </a:xfrm>
          <a:prstGeom prst="rect">
            <a:avLst/>
          </a:prstGeom>
          <a:noFill/>
          <a:ln/>
        </p:spPr>
        <p:txBody>
          <a:bodyPr wrap="none" lIns="0" tIns="0" rIns="0" bIns="0" rtlCol="0" anchor="t"/>
          <a:lstStyle/>
          <a:p>
            <a:pPr marL="0" indent="0" algn="l">
              <a:lnSpc>
                <a:spcPct val="92000"/>
              </a:lnSpc>
              <a:buNone/>
            </a:pPr>
            <a:r>
              <a:rPr lang="en-US" sz="2000" b="1" dirty="0">
                <a:solidFill>
                  <a:srgbClr val="2B2B2B"/>
                </a:solidFill>
                <a:latin typeface="Manrope Bold" pitchFamily="34" charset="0"/>
                <a:ea typeface="Manrope Bold" pitchFamily="34" charset="-122"/>
                <a:cs typeface="Manrope Bold" pitchFamily="34" charset="-120"/>
              </a:rPr>
              <a:t>Log the activity. Make the next workout easier to plan.</a:t>
            </a:r>
            <a:endParaRPr lang="en-US" sz="2000" dirty="0"/>
          </a:p>
        </p:txBody>
      </p:sp>
      <p:pic>
        <p:nvPicPr>
          <p:cNvPr id="4" name="Image 0" descr="preencoded.png"/>
          <p:cNvPicPr>
            <a:picLocks noChangeAspect="1"/>
          </p:cNvPicPr>
          <p:nvPr/>
        </p:nvPicPr>
        <p:blipFill>
          <a:blip r:embed="rId3"/>
          <a:stretch>
            <a:fillRect/>
          </a:stretch>
        </p:blipFill>
        <p:spPr>
          <a:xfrm>
            <a:off x="8076998" y="508000"/>
            <a:ext cx="3301917" cy="1968500"/>
          </a:xfrm>
          <a:prstGeom prst="rect">
            <a:avLst/>
          </a:prstGeom>
        </p:spPr>
      </p:pic>
      <p:sp>
        <p:nvSpPr>
          <p:cNvPr id="5" name="Shape 2"/>
          <p:cNvSpPr/>
          <p:nvPr/>
        </p:nvSpPr>
        <p:spPr>
          <a:xfrm>
            <a:off x="609585" y="2857500"/>
            <a:ext cx="1950691" cy="3492500"/>
          </a:xfrm>
          <a:prstGeom prst="rect">
            <a:avLst/>
          </a:prstGeom>
          <a:solidFill>
            <a:srgbClr val="CBFD3C"/>
          </a:solidFill>
          <a:ln/>
        </p:spPr>
      </p:sp>
      <p:sp>
        <p:nvSpPr>
          <p:cNvPr id="6" name="Text 3"/>
          <p:cNvSpPr/>
          <p:nvPr/>
        </p:nvSpPr>
        <p:spPr>
          <a:xfrm>
            <a:off x="761981" y="3060700"/>
            <a:ext cx="798790"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Manrope SemiBold" pitchFamily="34" charset="0"/>
                <a:ea typeface="Manrope SemiBold" pitchFamily="34" charset="-122"/>
                <a:cs typeface="Manrope SemiBold" pitchFamily="34" charset="-120"/>
              </a:rPr>
              <a:t>01</a:t>
            </a:r>
            <a:endParaRPr lang="en-US" sz="1400" dirty="0"/>
          </a:p>
        </p:txBody>
      </p:sp>
      <p:sp>
        <p:nvSpPr>
          <p:cNvPr id="7" name="Shape 4"/>
          <p:cNvSpPr/>
          <p:nvPr/>
        </p:nvSpPr>
        <p:spPr>
          <a:xfrm>
            <a:off x="761981" y="3309640"/>
            <a:ext cx="1645799" cy="19050"/>
          </a:xfrm>
          <a:prstGeom prst="rect">
            <a:avLst/>
          </a:prstGeom>
          <a:solidFill>
            <a:srgbClr val="CBFD3C"/>
          </a:solidFill>
          <a:ln/>
        </p:spPr>
      </p:sp>
      <p:sp>
        <p:nvSpPr>
          <p:cNvPr id="8" name="Text 5"/>
          <p:cNvSpPr/>
          <p:nvPr/>
        </p:nvSpPr>
        <p:spPr>
          <a:xfrm>
            <a:off x="761981" y="3456070"/>
            <a:ext cx="1645899" cy="237430"/>
          </a:xfrm>
          <a:prstGeom prst="rect">
            <a:avLst/>
          </a:prstGeom>
          <a:noFill/>
          <a:ln/>
        </p:spPr>
        <p:txBody>
          <a:bodyPr wrap="none" lIns="0" tIns="0" rIns="0" bIns="0" rtlCol="0" anchor="t"/>
          <a:lstStyle/>
          <a:p>
            <a:pPr marL="0" indent="0" algn="l">
              <a:lnSpc>
                <a:spcPct val="92000"/>
              </a:lnSpc>
              <a:buNone/>
            </a:pPr>
            <a:r>
              <a:rPr lang="en-US" sz="1700" b="1" dirty="0">
                <a:solidFill>
                  <a:srgbClr val="000000"/>
                </a:solidFill>
                <a:latin typeface="Manrope Bold" pitchFamily="34" charset="0"/>
                <a:ea typeface="Manrope Bold" pitchFamily="34" charset="-122"/>
                <a:cs typeface="Manrope Bold" pitchFamily="34" charset="-120"/>
              </a:rPr>
              <a:t>User Input</a:t>
            </a:r>
            <a:endParaRPr lang="en-US" sz="1700" dirty="0"/>
          </a:p>
        </p:txBody>
      </p:sp>
      <p:sp>
        <p:nvSpPr>
          <p:cNvPr id="9" name="Text 6"/>
          <p:cNvSpPr/>
          <p:nvPr/>
        </p:nvSpPr>
        <p:spPr>
          <a:xfrm>
            <a:off x="761981" y="3834705"/>
            <a:ext cx="1645899"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Enter daily activity details.</a:t>
            </a:r>
            <a:endParaRPr lang="en-US" sz="1400" dirty="0"/>
          </a:p>
        </p:txBody>
      </p:sp>
      <p:sp>
        <p:nvSpPr>
          <p:cNvPr id="10" name="Shape 7"/>
          <p:cNvSpPr/>
          <p:nvPr/>
        </p:nvSpPr>
        <p:spPr>
          <a:xfrm>
            <a:off x="2864969" y="2857500"/>
            <a:ext cx="1950691" cy="3492500"/>
          </a:xfrm>
          <a:prstGeom prst="rect">
            <a:avLst/>
          </a:prstGeom>
          <a:solidFill>
            <a:srgbClr val="113A14"/>
          </a:solidFill>
          <a:ln/>
        </p:spPr>
      </p:sp>
      <p:sp>
        <p:nvSpPr>
          <p:cNvPr id="11" name="Text 8"/>
          <p:cNvSpPr/>
          <p:nvPr/>
        </p:nvSpPr>
        <p:spPr>
          <a:xfrm>
            <a:off x="3017365" y="3060700"/>
            <a:ext cx="828158"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Manrope SemiBold" pitchFamily="34" charset="0"/>
                <a:ea typeface="Manrope SemiBold" pitchFamily="34" charset="-122"/>
                <a:cs typeface="Manrope SemiBold" pitchFamily="34" charset="-120"/>
              </a:rPr>
              <a:t>02</a:t>
            </a:r>
            <a:endParaRPr lang="en-US" sz="1400" dirty="0"/>
          </a:p>
        </p:txBody>
      </p:sp>
      <p:sp>
        <p:nvSpPr>
          <p:cNvPr id="12" name="Shape 9"/>
          <p:cNvSpPr/>
          <p:nvPr/>
        </p:nvSpPr>
        <p:spPr>
          <a:xfrm>
            <a:off x="3017365" y="3309640"/>
            <a:ext cx="1645799" cy="19050"/>
          </a:xfrm>
          <a:prstGeom prst="rect">
            <a:avLst/>
          </a:prstGeom>
          <a:solidFill>
            <a:srgbClr val="CBFD3C"/>
          </a:solidFill>
          <a:ln/>
        </p:spPr>
      </p:sp>
      <p:sp>
        <p:nvSpPr>
          <p:cNvPr id="13" name="Text 10"/>
          <p:cNvSpPr/>
          <p:nvPr/>
        </p:nvSpPr>
        <p:spPr>
          <a:xfrm>
            <a:off x="3017365" y="3456070"/>
            <a:ext cx="1645899"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FFFFFF"/>
                </a:solidFill>
                <a:latin typeface="Manrope Bold" pitchFamily="34" charset="0"/>
                <a:ea typeface="Manrope Bold" pitchFamily="34" charset="-122"/>
                <a:cs typeface="Manrope Bold" pitchFamily="34" charset="-120"/>
              </a:rPr>
              <a:t>Activity Tracking</a:t>
            </a:r>
            <a:endParaRPr lang="en-US" sz="1700" dirty="0"/>
          </a:p>
        </p:txBody>
      </p:sp>
      <p:sp>
        <p:nvSpPr>
          <p:cNvPr id="14" name="Text 11"/>
          <p:cNvSpPr/>
          <p:nvPr/>
        </p:nvSpPr>
        <p:spPr>
          <a:xfrm>
            <a:off x="3017365" y="4072136"/>
            <a:ext cx="1645899"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Record fitness information.</a:t>
            </a:r>
            <a:endParaRPr lang="en-US" sz="1400" dirty="0"/>
          </a:p>
        </p:txBody>
      </p:sp>
      <p:sp>
        <p:nvSpPr>
          <p:cNvPr id="15" name="Shape 12"/>
          <p:cNvSpPr/>
          <p:nvPr/>
        </p:nvSpPr>
        <p:spPr>
          <a:xfrm>
            <a:off x="5120353" y="2857500"/>
            <a:ext cx="1950889" cy="3492500"/>
          </a:xfrm>
          <a:prstGeom prst="rect">
            <a:avLst/>
          </a:prstGeom>
          <a:solidFill>
            <a:srgbClr val="CBFD3C"/>
          </a:solidFill>
          <a:ln/>
        </p:spPr>
      </p:sp>
      <p:sp>
        <p:nvSpPr>
          <p:cNvPr id="16" name="Text 13"/>
          <p:cNvSpPr/>
          <p:nvPr/>
        </p:nvSpPr>
        <p:spPr>
          <a:xfrm>
            <a:off x="5272749" y="3060700"/>
            <a:ext cx="825479" cy="177800"/>
          </a:xfrm>
          <a:prstGeom prst="rect">
            <a:avLst/>
          </a:prstGeom>
          <a:noFill/>
          <a:ln/>
        </p:spPr>
        <p:txBody>
          <a:bodyPr wrap="none" lIns="0" tIns="0" rIns="0" bIns="0" rtlCol="0" anchor="t"/>
          <a:lstStyle/>
          <a:p>
            <a:pPr marL="0" indent="0" algn="l">
              <a:lnSpc>
                <a:spcPct val="83000"/>
              </a:lnSpc>
              <a:buNone/>
            </a:pPr>
            <a:r>
              <a:rPr lang="en-US" sz="1400" dirty="0">
                <a:solidFill>
                  <a:srgbClr val="000000"/>
                </a:solidFill>
                <a:latin typeface="Manrope SemiBold" pitchFamily="34" charset="0"/>
                <a:ea typeface="Manrope SemiBold" pitchFamily="34" charset="-122"/>
                <a:cs typeface="Manrope SemiBold" pitchFamily="34" charset="-120"/>
              </a:rPr>
              <a:t>03</a:t>
            </a:r>
            <a:endParaRPr lang="en-US" sz="1400" dirty="0"/>
          </a:p>
        </p:txBody>
      </p:sp>
      <p:sp>
        <p:nvSpPr>
          <p:cNvPr id="17" name="Shape 14"/>
          <p:cNvSpPr/>
          <p:nvPr/>
        </p:nvSpPr>
        <p:spPr>
          <a:xfrm>
            <a:off x="5272749" y="3309640"/>
            <a:ext cx="1646097" cy="19050"/>
          </a:xfrm>
          <a:prstGeom prst="rect">
            <a:avLst/>
          </a:prstGeom>
          <a:solidFill>
            <a:srgbClr val="CBFD3C"/>
          </a:solidFill>
          <a:ln/>
        </p:spPr>
      </p:sp>
      <p:sp>
        <p:nvSpPr>
          <p:cNvPr id="18" name="Text 15"/>
          <p:cNvSpPr/>
          <p:nvPr/>
        </p:nvSpPr>
        <p:spPr>
          <a:xfrm>
            <a:off x="5272749" y="3456070"/>
            <a:ext cx="164609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000000"/>
                </a:solidFill>
                <a:latin typeface="Manrope Bold" pitchFamily="34" charset="0"/>
                <a:ea typeface="Manrope Bold" pitchFamily="34" charset="-122"/>
                <a:cs typeface="Manrope Bold" pitchFamily="34" charset="-120"/>
              </a:rPr>
              <a:t>Data Processing</a:t>
            </a:r>
            <a:endParaRPr lang="en-US" sz="1700" dirty="0"/>
          </a:p>
        </p:txBody>
      </p:sp>
      <p:sp>
        <p:nvSpPr>
          <p:cNvPr id="19" name="Text 16"/>
          <p:cNvSpPr/>
          <p:nvPr/>
        </p:nvSpPr>
        <p:spPr>
          <a:xfrm>
            <a:off x="5272749" y="4072136"/>
            <a:ext cx="1646097"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Calculate totals and progress.</a:t>
            </a:r>
            <a:endParaRPr lang="en-US" sz="1400" dirty="0"/>
          </a:p>
        </p:txBody>
      </p:sp>
      <p:sp>
        <p:nvSpPr>
          <p:cNvPr id="20" name="Shape 17"/>
          <p:cNvSpPr/>
          <p:nvPr/>
        </p:nvSpPr>
        <p:spPr>
          <a:xfrm>
            <a:off x="7375936" y="2857500"/>
            <a:ext cx="1950691" cy="3492500"/>
          </a:xfrm>
          <a:prstGeom prst="rect">
            <a:avLst/>
          </a:prstGeom>
          <a:solidFill>
            <a:srgbClr val="113A14"/>
          </a:solidFill>
          <a:ln/>
        </p:spPr>
      </p:sp>
      <p:sp>
        <p:nvSpPr>
          <p:cNvPr id="21" name="Text 18"/>
          <p:cNvSpPr/>
          <p:nvPr/>
        </p:nvSpPr>
        <p:spPr>
          <a:xfrm>
            <a:off x="7528332" y="3060700"/>
            <a:ext cx="830936"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Manrope SemiBold" pitchFamily="34" charset="0"/>
                <a:ea typeface="Manrope SemiBold" pitchFamily="34" charset="-122"/>
                <a:cs typeface="Manrope SemiBold" pitchFamily="34" charset="-120"/>
              </a:rPr>
              <a:t>04</a:t>
            </a:r>
            <a:endParaRPr lang="en-US" sz="1400" dirty="0"/>
          </a:p>
        </p:txBody>
      </p:sp>
      <p:sp>
        <p:nvSpPr>
          <p:cNvPr id="22" name="Shape 19"/>
          <p:cNvSpPr/>
          <p:nvPr/>
        </p:nvSpPr>
        <p:spPr>
          <a:xfrm>
            <a:off x="7528332" y="3309640"/>
            <a:ext cx="1645799" cy="19050"/>
          </a:xfrm>
          <a:prstGeom prst="rect">
            <a:avLst/>
          </a:prstGeom>
          <a:solidFill>
            <a:srgbClr val="CBFD3C"/>
          </a:solidFill>
          <a:ln/>
        </p:spPr>
      </p:sp>
      <p:sp>
        <p:nvSpPr>
          <p:cNvPr id="23" name="Text 20"/>
          <p:cNvSpPr/>
          <p:nvPr/>
        </p:nvSpPr>
        <p:spPr>
          <a:xfrm>
            <a:off x="7528332" y="3456070"/>
            <a:ext cx="1645899"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FFFFFF"/>
                </a:solidFill>
                <a:latin typeface="Manrope Bold" pitchFamily="34" charset="0"/>
                <a:ea typeface="Manrope Bold" pitchFamily="34" charset="-122"/>
                <a:cs typeface="Manrope Bold" pitchFamily="34" charset="-120"/>
              </a:rPr>
              <a:t>Dashboard Visualization</a:t>
            </a:r>
            <a:endParaRPr lang="en-US" sz="1700" dirty="0"/>
          </a:p>
        </p:txBody>
      </p:sp>
      <p:sp>
        <p:nvSpPr>
          <p:cNvPr id="24" name="Text 21"/>
          <p:cNvSpPr/>
          <p:nvPr/>
        </p:nvSpPr>
        <p:spPr>
          <a:xfrm>
            <a:off x="7528332" y="4072136"/>
            <a:ext cx="1645899"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Show daily and weekly performance.</a:t>
            </a:r>
            <a:endParaRPr lang="en-US" sz="1400" dirty="0"/>
          </a:p>
        </p:txBody>
      </p:sp>
      <p:sp>
        <p:nvSpPr>
          <p:cNvPr id="25" name="Shape 22"/>
          <p:cNvSpPr/>
          <p:nvPr/>
        </p:nvSpPr>
        <p:spPr>
          <a:xfrm>
            <a:off x="9631320" y="2857500"/>
            <a:ext cx="1950790" cy="3492500"/>
          </a:xfrm>
          <a:prstGeom prst="rect">
            <a:avLst/>
          </a:prstGeom>
          <a:solidFill>
            <a:srgbClr val="113A14"/>
          </a:solidFill>
          <a:ln/>
        </p:spPr>
      </p:sp>
      <p:sp>
        <p:nvSpPr>
          <p:cNvPr id="26" name="Text 23"/>
          <p:cNvSpPr/>
          <p:nvPr/>
        </p:nvSpPr>
        <p:spPr>
          <a:xfrm>
            <a:off x="9783716" y="3060700"/>
            <a:ext cx="82756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Manrope SemiBold" pitchFamily="34" charset="0"/>
                <a:ea typeface="Manrope SemiBold" pitchFamily="34" charset="-122"/>
                <a:cs typeface="Manrope SemiBold" pitchFamily="34" charset="-120"/>
              </a:rPr>
              <a:t>05</a:t>
            </a:r>
            <a:endParaRPr lang="en-US" sz="1400" dirty="0"/>
          </a:p>
        </p:txBody>
      </p:sp>
      <p:sp>
        <p:nvSpPr>
          <p:cNvPr id="27" name="Shape 24"/>
          <p:cNvSpPr/>
          <p:nvPr/>
        </p:nvSpPr>
        <p:spPr>
          <a:xfrm>
            <a:off x="9783716" y="3309640"/>
            <a:ext cx="1645899" cy="19050"/>
          </a:xfrm>
          <a:prstGeom prst="rect">
            <a:avLst/>
          </a:prstGeom>
          <a:solidFill>
            <a:srgbClr val="CBFD3C"/>
          </a:solidFill>
          <a:ln/>
        </p:spPr>
      </p:sp>
      <p:sp>
        <p:nvSpPr>
          <p:cNvPr id="28" name="Text 25"/>
          <p:cNvSpPr/>
          <p:nvPr/>
        </p:nvSpPr>
        <p:spPr>
          <a:xfrm>
            <a:off x="9783716" y="3456070"/>
            <a:ext cx="1645998"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FFFFFF"/>
                </a:solidFill>
                <a:latin typeface="Manrope Bold" pitchFamily="34" charset="0"/>
                <a:ea typeface="Manrope Bold" pitchFamily="34" charset="-122"/>
                <a:cs typeface="Manrope Bold" pitchFamily="34" charset="-120"/>
              </a:rPr>
              <a:t>Progress Monitoring</a:t>
            </a:r>
            <a:endParaRPr lang="en-US" sz="1700" dirty="0"/>
          </a:p>
        </p:txBody>
      </p:sp>
      <p:sp>
        <p:nvSpPr>
          <p:cNvPr id="29" name="Text 26"/>
          <p:cNvSpPr/>
          <p:nvPr/>
        </p:nvSpPr>
        <p:spPr>
          <a:xfrm>
            <a:off x="9783716" y="4072136"/>
            <a:ext cx="1645998"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Review progress and plan workouts.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063898" cy="6858000"/>
          </a:xfrm>
          <a:prstGeom prst="rect">
            <a:avLst/>
          </a:prstGeom>
        </p:spPr>
      </p:pic>
      <p:sp>
        <p:nvSpPr>
          <p:cNvPr id="3" name="Text 0"/>
          <p:cNvSpPr/>
          <p:nvPr/>
        </p:nvSpPr>
        <p:spPr>
          <a:xfrm>
            <a:off x="4673483" y="546188"/>
            <a:ext cx="6908627" cy="446980"/>
          </a:xfrm>
          <a:prstGeom prst="rect">
            <a:avLst/>
          </a:prstGeom>
          <a:noFill/>
          <a:ln/>
        </p:spPr>
        <p:txBody>
          <a:bodyPr wrap="none" lIns="0" tIns="0" rIns="0" bIns="0" rtlCol="0" anchor="t"/>
          <a:lstStyle/>
          <a:p>
            <a:pPr marL="0" indent="0" algn="l">
              <a:lnSpc>
                <a:spcPct val="92000"/>
              </a:lnSpc>
              <a:buNone/>
            </a:pPr>
            <a:r>
              <a:rPr lang="en-US" sz="3200" b="1" dirty="0">
                <a:solidFill>
                  <a:srgbClr val="2B2B2B"/>
                </a:solidFill>
                <a:latin typeface="Manrope Bold" pitchFamily="34" charset="0"/>
                <a:ea typeface="Manrope Bold" pitchFamily="34" charset="-122"/>
                <a:cs typeface="Manrope Bold" pitchFamily="34" charset="-120"/>
              </a:rPr>
              <a:t>A simple, flexible </a:t>
            </a:r>
            <a:r>
              <a:rPr lang="en-US" sz="3200" b="1" u="sng" dirty="0">
                <a:solidFill>
                  <a:srgbClr val="2B2B2B"/>
                </a:solidFill>
                <a:latin typeface="Manrope Bold" pitchFamily="34" charset="0"/>
                <a:ea typeface="Manrope Bold" pitchFamily="34" charset="-122"/>
                <a:cs typeface="Manrope Bold" pitchFamily="34" charset="-120"/>
              </a:rPr>
              <a:t>web stack</a:t>
            </a:r>
            <a:endParaRPr lang="en-US" sz="3200" dirty="0"/>
          </a:p>
        </p:txBody>
      </p:sp>
      <p:sp>
        <p:nvSpPr>
          <p:cNvPr id="4" name="Shape 1"/>
          <p:cNvSpPr/>
          <p:nvPr/>
        </p:nvSpPr>
        <p:spPr>
          <a:xfrm>
            <a:off x="4673483" y="1180405"/>
            <a:ext cx="6908627" cy="1029593"/>
          </a:xfrm>
          <a:prstGeom prst="rect">
            <a:avLst/>
          </a:prstGeom>
          <a:solidFill>
            <a:srgbClr val="CBFD3C"/>
          </a:solidFill>
          <a:ln/>
        </p:spPr>
      </p:sp>
      <p:sp>
        <p:nvSpPr>
          <p:cNvPr id="5" name="Text 2"/>
          <p:cNvSpPr/>
          <p:nvPr/>
        </p:nvSpPr>
        <p:spPr>
          <a:xfrm>
            <a:off x="4902077" y="1356089"/>
            <a:ext cx="6451439"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anrope Bold" pitchFamily="34" charset="0"/>
                <a:ea typeface="Manrope Bold" pitchFamily="34" charset="-122"/>
                <a:cs typeface="Manrope Bold" pitchFamily="34" charset="-120"/>
              </a:rPr>
              <a:t>Frontend + charts</a:t>
            </a:r>
            <a:endParaRPr lang="en-US" sz="2000" dirty="0"/>
          </a:p>
        </p:txBody>
      </p:sp>
      <p:sp>
        <p:nvSpPr>
          <p:cNvPr id="6" name="Text 3"/>
          <p:cNvSpPr/>
          <p:nvPr/>
        </p:nvSpPr>
        <p:spPr>
          <a:xfrm>
            <a:off x="4902077" y="1774130"/>
            <a:ext cx="6680033" cy="266700"/>
          </a:xfrm>
          <a:prstGeom prst="rect">
            <a:avLst/>
          </a:prstGeom>
          <a:noFill/>
          <a:ln/>
        </p:spPr>
        <p:txBody>
          <a:bodyPr wrap="none" lIns="0" tIns="0" rIns="0" bIns="0" rtlCol="0" anchor="t"/>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HTML, CSS, JavaScript; optional React. Chart.js for visualization.</a:t>
            </a:r>
            <a:endParaRPr lang="en-US" sz="1400" dirty="0"/>
          </a:p>
        </p:txBody>
      </p:sp>
      <p:sp>
        <p:nvSpPr>
          <p:cNvPr id="7" name="Shape 4"/>
          <p:cNvSpPr/>
          <p:nvPr/>
        </p:nvSpPr>
        <p:spPr>
          <a:xfrm>
            <a:off x="4673483" y="2362398"/>
            <a:ext cx="6908627" cy="1029692"/>
          </a:xfrm>
          <a:prstGeom prst="rect">
            <a:avLst/>
          </a:prstGeom>
          <a:solidFill>
            <a:srgbClr val="FFFFFF"/>
          </a:solidFill>
          <a:ln/>
        </p:spPr>
      </p:sp>
      <p:sp>
        <p:nvSpPr>
          <p:cNvPr id="8" name="Text 5"/>
          <p:cNvSpPr/>
          <p:nvPr/>
        </p:nvSpPr>
        <p:spPr>
          <a:xfrm>
            <a:off x="4902077" y="2538082"/>
            <a:ext cx="6451439"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anrope Bold" pitchFamily="34" charset="0"/>
                <a:ea typeface="Manrope Bold" pitchFamily="34" charset="-122"/>
                <a:cs typeface="Manrope Bold" pitchFamily="34" charset="-120"/>
              </a:rPr>
              <a:t>Backend</a:t>
            </a:r>
            <a:endParaRPr lang="en-US" sz="2000" dirty="0"/>
          </a:p>
        </p:txBody>
      </p:sp>
      <p:sp>
        <p:nvSpPr>
          <p:cNvPr id="9" name="Text 6"/>
          <p:cNvSpPr/>
          <p:nvPr/>
        </p:nvSpPr>
        <p:spPr>
          <a:xfrm>
            <a:off x="4902077" y="2956123"/>
            <a:ext cx="6680033" cy="266700"/>
          </a:xfrm>
          <a:prstGeom prst="rect">
            <a:avLst/>
          </a:prstGeom>
          <a:noFill/>
          <a:ln/>
        </p:spPr>
        <p:txBody>
          <a:bodyPr wrap="none" lIns="0" tIns="0" rIns="0" bIns="0" rtlCol="0" anchor="t"/>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Node.js and Express.</a:t>
            </a:r>
            <a:endParaRPr lang="en-US" sz="1400" dirty="0"/>
          </a:p>
        </p:txBody>
      </p:sp>
      <p:sp>
        <p:nvSpPr>
          <p:cNvPr id="10" name="Shape 7"/>
          <p:cNvSpPr/>
          <p:nvPr/>
        </p:nvSpPr>
        <p:spPr>
          <a:xfrm>
            <a:off x="4673483" y="3544491"/>
            <a:ext cx="6908627" cy="1029692"/>
          </a:xfrm>
          <a:prstGeom prst="rect">
            <a:avLst/>
          </a:prstGeom>
          <a:solidFill>
            <a:srgbClr val="FFFFFF"/>
          </a:solidFill>
          <a:ln/>
        </p:spPr>
      </p:sp>
      <p:sp>
        <p:nvSpPr>
          <p:cNvPr id="11" name="Text 8"/>
          <p:cNvSpPr/>
          <p:nvPr/>
        </p:nvSpPr>
        <p:spPr>
          <a:xfrm>
            <a:off x="4902077" y="3720174"/>
            <a:ext cx="6451439"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anrope Bold" pitchFamily="34" charset="0"/>
                <a:ea typeface="Manrope Bold" pitchFamily="34" charset="-122"/>
                <a:cs typeface="Manrope Bold" pitchFamily="34" charset="-120"/>
              </a:rPr>
              <a:t>Database</a:t>
            </a:r>
            <a:endParaRPr lang="en-US" sz="2000" dirty="0"/>
          </a:p>
        </p:txBody>
      </p:sp>
      <p:sp>
        <p:nvSpPr>
          <p:cNvPr id="12" name="Text 9"/>
          <p:cNvSpPr/>
          <p:nvPr/>
        </p:nvSpPr>
        <p:spPr>
          <a:xfrm>
            <a:off x="4902077" y="4138216"/>
            <a:ext cx="6680033" cy="266700"/>
          </a:xfrm>
          <a:prstGeom prst="rect">
            <a:avLst/>
          </a:prstGeom>
          <a:noFill/>
          <a:ln/>
        </p:spPr>
        <p:txBody>
          <a:bodyPr wrap="none" lIns="0" tIns="0" rIns="0" bIns="0" rtlCol="0" anchor="t"/>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MongoDB or MySQL.</a:t>
            </a:r>
            <a:endParaRPr lang="en-US" sz="1400" dirty="0"/>
          </a:p>
        </p:txBody>
      </p:sp>
      <p:sp>
        <p:nvSpPr>
          <p:cNvPr id="13" name="Shape 10"/>
          <p:cNvSpPr/>
          <p:nvPr/>
        </p:nvSpPr>
        <p:spPr>
          <a:xfrm>
            <a:off x="4673483" y="4726583"/>
            <a:ext cx="6908627" cy="1296392"/>
          </a:xfrm>
          <a:prstGeom prst="rect">
            <a:avLst/>
          </a:prstGeom>
          <a:solidFill>
            <a:srgbClr val="113A14"/>
          </a:solidFill>
          <a:ln/>
        </p:spPr>
      </p:sp>
      <p:sp>
        <p:nvSpPr>
          <p:cNvPr id="14" name="Text 11"/>
          <p:cNvSpPr/>
          <p:nvPr/>
        </p:nvSpPr>
        <p:spPr>
          <a:xfrm>
            <a:off x="4902077" y="4902266"/>
            <a:ext cx="6451439"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Algorithms</a:t>
            </a:r>
            <a:endParaRPr lang="en-US" sz="2000" dirty="0"/>
          </a:p>
        </p:txBody>
      </p:sp>
      <p:sp>
        <p:nvSpPr>
          <p:cNvPr id="15" name="Text 12"/>
          <p:cNvSpPr/>
          <p:nvPr/>
        </p:nvSpPr>
        <p:spPr>
          <a:xfrm>
            <a:off x="4902077" y="5320308"/>
            <a:ext cx="6451439"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Daily activity totals, goal completion percentage, and weekly progress comparison.</a:t>
            </a:r>
            <a:endParaRPr lang="en-US" sz="1400" dirty="0"/>
          </a:p>
        </p:txBody>
      </p:sp>
      <p:sp>
        <p:nvSpPr>
          <p:cNvPr id="16" name="Text 13"/>
          <p:cNvSpPr/>
          <p:nvPr/>
        </p:nvSpPr>
        <p:spPr>
          <a:xfrm>
            <a:off x="4673483" y="6228556"/>
            <a:ext cx="7518212" cy="200025"/>
          </a:xfrm>
          <a:prstGeom prst="rect">
            <a:avLst/>
          </a:prstGeom>
          <a:noFill/>
          <a:ln/>
        </p:spPr>
        <p:txBody>
          <a:bodyPr wrap="none" lIns="0" tIns="0" rIns="0" bIns="0" rtlCol="0" anchor="t"/>
          <a:lstStyle/>
          <a:p>
            <a:pPr marL="0" indent="0" algn="l">
              <a:lnSpc>
                <a:spcPct val="125000"/>
              </a:lnSpc>
              <a:buNone/>
            </a:pPr>
            <a:r>
              <a:rPr lang="en-US" sz="1050" dirty="0">
                <a:solidFill>
                  <a:srgbClr val="797269"/>
                </a:solidFill>
                <a:latin typeface="Manrope" pitchFamily="34" charset="0"/>
                <a:ea typeface="Manrope" pitchFamily="34" charset="-122"/>
                <a:cs typeface="Manrope" pitchFamily="34" charset="-120"/>
              </a:rPr>
              <a:t>Stack can be adjusted to the project implementation.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46485"/>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2B2B2B"/>
                </a:solidFill>
                <a:latin typeface="Manrope Bold" pitchFamily="34" charset="0"/>
                <a:ea typeface="Manrope Bold" pitchFamily="34" charset="-122"/>
                <a:cs typeface="Manrope Bold" pitchFamily="34" charset="-120"/>
              </a:rPr>
              <a:t>Demo: a sample day, and the </a:t>
            </a:r>
            <a:r>
              <a:rPr lang="en-US" sz="3200" b="1" u="sng" dirty="0">
                <a:solidFill>
                  <a:srgbClr val="2B2B2B"/>
                </a:solidFill>
                <a:latin typeface="Manrope Bold" pitchFamily="34" charset="0"/>
                <a:ea typeface="Manrope Bold" pitchFamily="34" charset="-122"/>
                <a:cs typeface="Manrope Bold" pitchFamily="34" charset="-120"/>
              </a:rPr>
              <a:t>impact</a:t>
            </a:r>
            <a:endParaRPr lang="en-US" sz="3200" dirty="0"/>
          </a:p>
        </p:txBody>
      </p:sp>
      <p:sp>
        <p:nvSpPr>
          <p:cNvPr id="3" name="Shape 1"/>
          <p:cNvSpPr/>
          <p:nvPr/>
        </p:nvSpPr>
        <p:spPr>
          <a:xfrm>
            <a:off x="609585" y="1180703"/>
            <a:ext cx="2628834" cy="1396305"/>
          </a:xfrm>
          <a:prstGeom prst="rect">
            <a:avLst/>
          </a:prstGeom>
          <a:solidFill>
            <a:srgbClr val="CBFD3C"/>
          </a:solidFill>
          <a:ln/>
        </p:spPr>
      </p:sp>
      <p:sp>
        <p:nvSpPr>
          <p:cNvPr id="4" name="Text 2"/>
          <p:cNvSpPr/>
          <p:nvPr/>
        </p:nvSpPr>
        <p:spPr>
          <a:xfrm>
            <a:off x="812780" y="1447491"/>
            <a:ext cx="2222444" cy="446980"/>
          </a:xfrm>
          <a:prstGeom prst="rect">
            <a:avLst/>
          </a:prstGeom>
          <a:noFill/>
          <a:ln/>
        </p:spPr>
        <p:txBody>
          <a:bodyPr wrap="none" lIns="0" tIns="0" rIns="0" bIns="0" rtlCol="0" anchor="t"/>
          <a:lstStyle/>
          <a:p>
            <a:pPr marL="0" indent="0" algn="l">
              <a:lnSpc>
                <a:spcPct val="92000"/>
              </a:lnSpc>
              <a:buNone/>
            </a:pPr>
            <a:r>
              <a:rPr lang="en-US" sz="3200" b="1" dirty="0">
                <a:solidFill>
                  <a:srgbClr val="000000"/>
                </a:solidFill>
                <a:latin typeface="Manrope Bold" pitchFamily="34" charset="0"/>
                <a:ea typeface="Manrope Bold" pitchFamily="34" charset="-122"/>
                <a:cs typeface="Manrope Bold" pitchFamily="34" charset="-120"/>
              </a:rPr>
              <a:t>7,500</a:t>
            </a:r>
            <a:endParaRPr lang="en-US" sz="3200" dirty="0"/>
          </a:p>
        </p:txBody>
      </p:sp>
      <p:sp>
        <p:nvSpPr>
          <p:cNvPr id="5" name="Text 3"/>
          <p:cNvSpPr/>
          <p:nvPr/>
        </p:nvSpPr>
        <p:spPr>
          <a:xfrm>
            <a:off x="812780" y="2081709"/>
            <a:ext cx="2425639" cy="266700"/>
          </a:xfrm>
          <a:prstGeom prst="rect">
            <a:avLst/>
          </a:prstGeom>
          <a:noFill/>
          <a:ln/>
        </p:spPr>
        <p:txBody>
          <a:bodyPr wrap="none" lIns="0" tIns="0" rIns="0" bIns="0" rtlCol="0" anchor="t"/>
          <a:lstStyle/>
          <a:p>
            <a:pPr marL="0" indent="0" algn="l">
              <a:lnSpc>
                <a:spcPct val="125000"/>
              </a:lnSpc>
              <a:buNone/>
            </a:pPr>
            <a:r>
              <a:rPr lang="en-US" sz="1400" dirty="0">
                <a:solidFill>
                  <a:srgbClr val="000000"/>
                </a:solidFill>
                <a:latin typeface="Manrope" pitchFamily="34" charset="0"/>
                <a:ea typeface="Manrope" pitchFamily="34" charset="-122"/>
                <a:cs typeface="Manrope" pitchFamily="34" charset="-120"/>
              </a:rPr>
              <a:t>Daily steps</a:t>
            </a:r>
            <a:endParaRPr lang="en-US" sz="1400" dirty="0"/>
          </a:p>
        </p:txBody>
      </p:sp>
      <p:sp>
        <p:nvSpPr>
          <p:cNvPr id="6" name="Shape 4"/>
          <p:cNvSpPr/>
          <p:nvPr/>
        </p:nvSpPr>
        <p:spPr>
          <a:xfrm>
            <a:off x="3390815" y="1180703"/>
            <a:ext cx="2628834" cy="1396305"/>
          </a:xfrm>
          <a:prstGeom prst="rect">
            <a:avLst/>
          </a:prstGeom>
          <a:solidFill>
            <a:srgbClr val="F1F0EC"/>
          </a:solidFill>
          <a:ln/>
        </p:spPr>
      </p:sp>
      <p:sp>
        <p:nvSpPr>
          <p:cNvPr id="7" name="Text 5"/>
          <p:cNvSpPr/>
          <p:nvPr/>
        </p:nvSpPr>
        <p:spPr>
          <a:xfrm>
            <a:off x="3594010" y="1447491"/>
            <a:ext cx="2222444" cy="446980"/>
          </a:xfrm>
          <a:prstGeom prst="rect">
            <a:avLst/>
          </a:prstGeom>
          <a:noFill/>
          <a:ln/>
        </p:spPr>
        <p:txBody>
          <a:bodyPr wrap="none" lIns="0" tIns="0" rIns="0" bIns="0" rtlCol="0" anchor="t"/>
          <a:lstStyle/>
          <a:p>
            <a:pPr marL="0" indent="0" algn="l">
              <a:lnSpc>
                <a:spcPct val="92000"/>
              </a:lnSpc>
              <a:buNone/>
            </a:pPr>
            <a:r>
              <a:rPr lang="en-US" sz="3200" b="1" dirty="0">
                <a:solidFill>
                  <a:srgbClr val="797269"/>
                </a:solidFill>
                <a:latin typeface="Manrope Bold" pitchFamily="34" charset="0"/>
                <a:ea typeface="Manrope Bold" pitchFamily="34" charset="-122"/>
                <a:cs typeface="Manrope Bold" pitchFamily="34" charset="-120"/>
              </a:rPr>
              <a:t>30 min</a:t>
            </a:r>
            <a:endParaRPr lang="en-US" sz="3200" dirty="0"/>
          </a:p>
        </p:txBody>
      </p:sp>
      <p:sp>
        <p:nvSpPr>
          <p:cNvPr id="8" name="Text 6"/>
          <p:cNvSpPr/>
          <p:nvPr/>
        </p:nvSpPr>
        <p:spPr>
          <a:xfrm>
            <a:off x="3594010" y="2081709"/>
            <a:ext cx="2425639" cy="266700"/>
          </a:xfrm>
          <a:prstGeom prst="rect">
            <a:avLst/>
          </a:prstGeom>
          <a:noFill/>
          <a:ln/>
        </p:spPr>
        <p:txBody>
          <a:bodyPr wrap="none" lIns="0" tIns="0" rIns="0" bIns="0" rtlCol="0" anchor="t"/>
          <a:lstStyle/>
          <a:p>
            <a:pPr marL="0" indent="0" algn="l">
              <a:lnSpc>
                <a:spcPct val="125000"/>
              </a:lnSpc>
              <a:buNone/>
            </a:pPr>
            <a:r>
              <a:rPr lang="en-US" sz="1400" dirty="0">
                <a:solidFill>
                  <a:srgbClr val="625C54"/>
                </a:solidFill>
                <a:latin typeface="Manrope" pitchFamily="34" charset="0"/>
                <a:ea typeface="Manrope" pitchFamily="34" charset="-122"/>
                <a:cs typeface="Manrope" pitchFamily="34" charset="-120"/>
              </a:rPr>
              <a:t>Workout duration</a:t>
            </a:r>
            <a:endParaRPr lang="en-US" sz="1400" dirty="0"/>
          </a:p>
        </p:txBody>
      </p:sp>
      <p:sp>
        <p:nvSpPr>
          <p:cNvPr id="9" name="Shape 7"/>
          <p:cNvSpPr/>
          <p:nvPr/>
        </p:nvSpPr>
        <p:spPr>
          <a:xfrm>
            <a:off x="6172046" y="1180703"/>
            <a:ext cx="2628834" cy="1396305"/>
          </a:xfrm>
          <a:prstGeom prst="rect">
            <a:avLst/>
          </a:prstGeom>
          <a:solidFill>
            <a:srgbClr val="F1F0EC"/>
          </a:solidFill>
          <a:ln/>
        </p:spPr>
      </p:sp>
      <p:sp>
        <p:nvSpPr>
          <p:cNvPr id="10" name="Text 8"/>
          <p:cNvSpPr/>
          <p:nvPr/>
        </p:nvSpPr>
        <p:spPr>
          <a:xfrm>
            <a:off x="6375241" y="1447491"/>
            <a:ext cx="2222444" cy="446980"/>
          </a:xfrm>
          <a:prstGeom prst="rect">
            <a:avLst/>
          </a:prstGeom>
          <a:noFill/>
          <a:ln/>
        </p:spPr>
        <p:txBody>
          <a:bodyPr wrap="none" lIns="0" tIns="0" rIns="0" bIns="0" rtlCol="0" anchor="t"/>
          <a:lstStyle/>
          <a:p>
            <a:pPr marL="0" indent="0" algn="l">
              <a:lnSpc>
                <a:spcPct val="92000"/>
              </a:lnSpc>
              <a:buNone/>
            </a:pPr>
            <a:r>
              <a:rPr lang="en-US" sz="3200" b="1" dirty="0">
                <a:solidFill>
                  <a:srgbClr val="797269"/>
                </a:solidFill>
                <a:latin typeface="Manrope Bold" pitchFamily="34" charset="0"/>
                <a:ea typeface="Manrope Bold" pitchFamily="34" charset="-122"/>
                <a:cs typeface="Manrope Bold" pitchFamily="34" charset="-120"/>
              </a:rPr>
              <a:t>6 glasses</a:t>
            </a:r>
            <a:endParaRPr lang="en-US" sz="3200" dirty="0"/>
          </a:p>
        </p:txBody>
      </p:sp>
      <p:sp>
        <p:nvSpPr>
          <p:cNvPr id="11" name="Text 9"/>
          <p:cNvSpPr/>
          <p:nvPr/>
        </p:nvSpPr>
        <p:spPr>
          <a:xfrm>
            <a:off x="6375241" y="2081709"/>
            <a:ext cx="2425639" cy="266700"/>
          </a:xfrm>
          <a:prstGeom prst="rect">
            <a:avLst/>
          </a:prstGeom>
          <a:noFill/>
          <a:ln/>
        </p:spPr>
        <p:txBody>
          <a:bodyPr wrap="none" lIns="0" tIns="0" rIns="0" bIns="0" rtlCol="0" anchor="t"/>
          <a:lstStyle/>
          <a:p>
            <a:pPr marL="0" indent="0" algn="l">
              <a:lnSpc>
                <a:spcPct val="125000"/>
              </a:lnSpc>
              <a:buNone/>
            </a:pPr>
            <a:r>
              <a:rPr lang="en-US" sz="1400" dirty="0">
                <a:solidFill>
                  <a:srgbClr val="625C54"/>
                </a:solidFill>
                <a:latin typeface="Manrope" pitchFamily="34" charset="0"/>
                <a:ea typeface="Manrope" pitchFamily="34" charset="-122"/>
                <a:cs typeface="Manrope" pitchFamily="34" charset="-120"/>
              </a:rPr>
              <a:t>Water intake</a:t>
            </a:r>
            <a:endParaRPr lang="en-US" sz="1400" dirty="0"/>
          </a:p>
        </p:txBody>
      </p:sp>
      <p:sp>
        <p:nvSpPr>
          <p:cNvPr id="12" name="Shape 10"/>
          <p:cNvSpPr/>
          <p:nvPr/>
        </p:nvSpPr>
        <p:spPr>
          <a:xfrm>
            <a:off x="8953276" y="1180703"/>
            <a:ext cx="2628834" cy="1396305"/>
          </a:xfrm>
          <a:prstGeom prst="rect">
            <a:avLst/>
          </a:prstGeom>
          <a:solidFill>
            <a:srgbClr val="113A14"/>
          </a:solidFill>
          <a:ln/>
        </p:spPr>
      </p:sp>
      <p:sp>
        <p:nvSpPr>
          <p:cNvPr id="13" name="Text 11"/>
          <p:cNvSpPr/>
          <p:nvPr/>
        </p:nvSpPr>
        <p:spPr>
          <a:xfrm>
            <a:off x="9156471" y="1447491"/>
            <a:ext cx="2222444" cy="446980"/>
          </a:xfrm>
          <a:prstGeom prst="rect">
            <a:avLst/>
          </a:prstGeom>
          <a:noFill/>
          <a:ln/>
        </p:spPr>
        <p:txBody>
          <a:bodyPr wrap="none" lIns="0" tIns="0" rIns="0" bIns="0" rtlCol="0" anchor="t"/>
          <a:lstStyle/>
          <a:p>
            <a:pPr marL="0" indent="0" algn="l">
              <a:lnSpc>
                <a:spcPct val="92000"/>
              </a:lnSpc>
              <a:buNone/>
            </a:pPr>
            <a:r>
              <a:rPr lang="en-US" sz="3200" b="1" dirty="0">
                <a:solidFill>
                  <a:srgbClr val="FFFFFF"/>
                </a:solidFill>
                <a:latin typeface="Manrope Bold" pitchFamily="34" charset="0"/>
                <a:ea typeface="Manrope Bold" pitchFamily="34" charset="-122"/>
                <a:cs typeface="Manrope Bold" pitchFamily="34" charset="-120"/>
              </a:rPr>
              <a:t>75%</a:t>
            </a:r>
            <a:endParaRPr lang="en-US" sz="3200" dirty="0"/>
          </a:p>
        </p:txBody>
      </p:sp>
      <p:sp>
        <p:nvSpPr>
          <p:cNvPr id="14" name="Text 12"/>
          <p:cNvSpPr/>
          <p:nvPr/>
        </p:nvSpPr>
        <p:spPr>
          <a:xfrm>
            <a:off x="9156471" y="2081709"/>
            <a:ext cx="2425639"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Daily goal completed</a:t>
            </a:r>
            <a:endParaRPr lang="en-US" sz="1400" dirty="0"/>
          </a:p>
        </p:txBody>
      </p:sp>
      <p:pic>
        <p:nvPicPr>
          <p:cNvPr id="15" name="Image 0" descr="preencoded.png"/>
          <p:cNvPicPr>
            <a:picLocks noChangeAspect="1"/>
          </p:cNvPicPr>
          <p:nvPr/>
        </p:nvPicPr>
        <p:blipFill>
          <a:blip r:embed="rId3"/>
          <a:stretch>
            <a:fillRect/>
          </a:stretch>
        </p:blipFill>
        <p:spPr>
          <a:xfrm>
            <a:off x="609890" y="2780209"/>
            <a:ext cx="7010225" cy="2652514"/>
          </a:xfrm>
          <a:prstGeom prst="rect">
            <a:avLst/>
          </a:prstGeom>
        </p:spPr>
      </p:pic>
      <p:sp>
        <p:nvSpPr>
          <p:cNvPr id="16" name="Text 13"/>
          <p:cNvSpPr/>
          <p:nvPr/>
        </p:nvSpPr>
        <p:spPr>
          <a:xfrm>
            <a:off x="609585" y="5527179"/>
            <a:ext cx="7010225" cy="200025"/>
          </a:xfrm>
          <a:prstGeom prst="rect">
            <a:avLst/>
          </a:prstGeom>
          <a:noFill/>
          <a:ln/>
        </p:spPr>
        <p:txBody>
          <a:bodyPr wrap="none" lIns="0" tIns="0" rIns="0" bIns="0" rtlCol="0" anchor="t"/>
          <a:lstStyle/>
          <a:p>
            <a:pPr marL="0" indent="0" algn="l">
              <a:lnSpc>
                <a:spcPct val="125000"/>
              </a:lnSpc>
              <a:buNone/>
            </a:pPr>
            <a:r>
              <a:rPr lang="en-US" sz="1050" dirty="0">
                <a:solidFill>
                  <a:srgbClr val="797269"/>
                </a:solidFill>
                <a:latin typeface="Manrope" pitchFamily="34" charset="0"/>
                <a:ea typeface="Manrope" pitchFamily="34" charset="-122"/>
                <a:cs typeface="Manrope" pitchFamily="34" charset="-120"/>
              </a:rPr>
              <a:t>Weekly fitness progress (sample). Sample values, not real user data.</a:t>
            </a:r>
            <a:endParaRPr lang="en-US" sz="1050" dirty="0"/>
          </a:p>
        </p:txBody>
      </p:sp>
      <p:pic>
        <p:nvPicPr>
          <p:cNvPr id="17" name="Image 1" descr="preencoded.png"/>
          <p:cNvPicPr>
            <a:picLocks noChangeAspect="1"/>
          </p:cNvPicPr>
          <p:nvPr/>
        </p:nvPicPr>
        <p:blipFill>
          <a:blip r:embed="rId4"/>
          <a:stretch>
            <a:fillRect/>
          </a:stretch>
        </p:blipFill>
        <p:spPr>
          <a:xfrm>
            <a:off x="8076998" y="2780209"/>
            <a:ext cx="3238419" cy="1587500"/>
          </a:xfrm>
          <a:prstGeom prst="rect">
            <a:avLst/>
          </a:prstGeom>
        </p:spPr>
      </p:pic>
      <p:sp>
        <p:nvSpPr>
          <p:cNvPr id="18" name="Text 14"/>
          <p:cNvSpPr/>
          <p:nvPr/>
        </p:nvSpPr>
        <p:spPr>
          <a:xfrm>
            <a:off x="8076998" y="4591628"/>
            <a:ext cx="3505112"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b="1" dirty="0">
                <a:solidFill>
                  <a:srgbClr val="2B2B2B"/>
                </a:solidFill>
                <a:latin typeface="Manrope Bold" pitchFamily="34" charset="0"/>
                <a:ea typeface="Manrope Bold" pitchFamily="34" charset="-122"/>
                <a:cs typeface="Manrope Bold" pitchFamily="34" charset="-120"/>
              </a:rPr>
              <a:t>Weekly progress chart, workout schedule, task checklist.</a:t>
            </a:r>
            <a:endParaRPr lang="en-US" sz="1700" dirty="0"/>
          </a:p>
        </p:txBody>
      </p:sp>
      <p:sp>
        <p:nvSpPr>
          <p:cNvPr id="19" name="Text 15"/>
          <p:cNvSpPr/>
          <p:nvPr/>
        </p:nvSpPr>
        <p:spPr>
          <a:xfrm>
            <a:off x="609585" y="6132892"/>
            <a:ext cx="10972526" cy="237430"/>
          </a:xfrm>
          <a:prstGeom prst="rect">
            <a:avLst/>
          </a:prstGeom>
          <a:noFill/>
          <a:ln/>
        </p:spPr>
        <p:txBody>
          <a:bodyPr wrap="none" lIns="0" tIns="0" rIns="0" bIns="0" rtlCol="0" anchor="t"/>
          <a:lstStyle/>
          <a:p>
            <a:pPr marL="0" indent="0" algn="l">
              <a:lnSpc>
                <a:spcPct val="92000"/>
              </a:lnSpc>
              <a:buNone/>
            </a:pPr>
            <a:r>
              <a:rPr lang="en-US" sz="1700" b="1" dirty="0">
                <a:solidFill>
                  <a:srgbClr val="2B2B2B"/>
                </a:solidFill>
                <a:latin typeface="Manrope Bold" pitchFamily="34" charset="0"/>
                <a:ea typeface="Manrope Bold" pitchFamily="34" charset="-122"/>
                <a:cs typeface="Manrope Bold" pitchFamily="34" charset="-120"/>
              </a:rPr>
              <a:t>Designed for consistent habits, clearer progress, organized schedules, and better daily awareness.</a:t>
            </a:r>
            <a:endParaRPr lang="en-US" sz="1700" dirty="0"/>
          </a:p>
        </p:txBody>
      </p:sp>
      <p:pic>
        <p:nvPicPr>
          <p:cNvPr id="21" name="Picture 20">
            <a:extLst>
              <a:ext uri="{FF2B5EF4-FFF2-40B4-BE49-F238E27FC236}">
                <a16:creationId xmlns:a16="http://schemas.microsoft.com/office/drawing/2014/main" id="{8AA160C2-D869-1401-D466-7AE157BBABC3}"/>
              </a:ext>
            </a:extLst>
          </p:cNvPr>
          <p:cNvPicPr>
            <a:picLocks noChangeAspect="1"/>
          </p:cNvPicPr>
          <p:nvPr/>
        </p:nvPicPr>
        <p:blipFill>
          <a:blip r:embed="rId5"/>
          <a:stretch>
            <a:fillRect/>
          </a:stretch>
        </p:blipFill>
        <p:spPr>
          <a:xfrm>
            <a:off x="0" y="0"/>
            <a:ext cx="12192000" cy="65451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113A14"/>
          </a:solidFill>
          <a:ln/>
        </p:spPr>
      </p:sp>
      <p:sp>
        <p:nvSpPr>
          <p:cNvPr id="3" name="Text 1"/>
          <p:cNvSpPr/>
          <p:nvPr/>
        </p:nvSpPr>
        <p:spPr>
          <a:xfrm>
            <a:off x="609585" y="596988"/>
            <a:ext cx="6197445" cy="446980"/>
          </a:xfrm>
          <a:prstGeom prst="rect">
            <a:avLst/>
          </a:prstGeom>
          <a:noFill/>
          <a:ln/>
        </p:spPr>
        <p:txBody>
          <a:bodyPr wrap="none" lIns="0" tIns="0" rIns="0" bIns="0" rtlCol="0" anchor="t"/>
          <a:lstStyle/>
          <a:p>
            <a:pPr marL="0" indent="0" algn="l">
              <a:lnSpc>
                <a:spcPct val="92000"/>
              </a:lnSpc>
              <a:buNone/>
            </a:pPr>
            <a:r>
              <a:rPr lang="en-US" sz="3200" b="1" dirty="0">
                <a:solidFill>
                  <a:srgbClr val="FFFFFF"/>
                </a:solidFill>
                <a:latin typeface="Manrope Bold" pitchFamily="34" charset="0"/>
                <a:ea typeface="Manrope Bold" pitchFamily="34" charset="-122"/>
                <a:cs typeface="Manrope Bold" pitchFamily="34" charset="-120"/>
              </a:rPr>
              <a:t>Where we go </a:t>
            </a:r>
            <a:r>
              <a:rPr lang="en-US" sz="3200" b="1" u="sng" dirty="0">
                <a:solidFill>
                  <a:srgbClr val="FFFFFF"/>
                </a:solidFill>
                <a:latin typeface="Manrope Bold" pitchFamily="34" charset="0"/>
                <a:ea typeface="Manrope Bold" pitchFamily="34" charset="-122"/>
                <a:cs typeface="Manrope Bold" pitchFamily="34" charset="-120"/>
              </a:rPr>
              <a:t>next</a:t>
            </a:r>
            <a:endParaRPr lang="en-US" sz="3200" dirty="0"/>
          </a:p>
        </p:txBody>
      </p:sp>
      <p:pic>
        <p:nvPicPr>
          <p:cNvPr id="4" name="Image 0" descr="preencoded.png"/>
          <p:cNvPicPr>
            <a:picLocks noChangeAspect="1"/>
          </p:cNvPicPr>
          <p:nvPr/>
        </p:nvPicPr>
        <p:blipFill>
          <a:blip r:embed="rId3"/>
          <a:stretch>
            <a:fillRect/>
          </a:stretch>
        </p:blipFill>
        <p:spPr>
          <a:xfrm>
            <a:off x="609585" y="1231205"/>
            <a:ext cx="355591" cy="355600"/>
          </a:xfrm>
          <a:prstGeom prst="rect">
            <a:avLst/>
          </a:prstGeom>
        </p:spPr>
      </p:pic>
      <p:sp>
        <p:nvSpPr>
          <p:cNvPr id="5" name="Text 2"/>
          <p:cNvSpPr/>
          <p:nvPr/>
        </p:nvSpPr>
        <p:spPr>
          <a:xfrm>
            <a:off x="609585" y="1743439"/>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Connect devices</a:t>
            </a:r>
            <a:endParaRPr lang="en-US" sz="2000" dirty="0"/>
          </a:p>
        </p:txBody>
      </p:sp>
      <p:sp>
        <p:nvSpPr>
          <p:cNvPr id="6" name="Text 3"/>
          <p:cNvSpPr/>
          <p:nvPr/>
        </p:nvSpPr>
        <p:spPr>
          <a:xfrm>
            <a:off x="609585" y="2161480"/>
            <a:ext cx="2946326"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Smartwatch and fitness band integration. Automatic activity tracking.</a:t>
            </a:r>
            <a:endParaRPr lang="en-US" sz="1400" dirty="0"/>
          </a:p>
        </p:txBody>
      </p:sp>
      <p:pic>
        <p:nvPicPr>
          <p:cNvPr id="7" name="Image 1" descr="preencoded.png"/>
          <p:cNvPicPr>
            <a:picLocks noChangeAspect="1"/>
          </p:cNvPicPr>
          <p:nvPr/>
        </p:nvPicPr>
        <p:blipFill>
          <a:blip r:embed="rId4"/>
          <a:stretch>
            <a:fillRect/>
          </a:stretch>
        </p:blipFill>
        <p:spPr>
          <a:xfrm>
            <a:off x="3860703" y="1231205"/>
            <a:ext cx="355591" cy="355600"/>
          </a:xfrm>
          <a:prstGeom prst="rect">
            <a:avLst/>
          </a:prstGeom>
        </p:spPr>
      </p:pic>
      <p:sp>
        <p:nvSpPr>
          <p:cNvPr id="8" name="Text 4"/>
          <p:cNvSpPr/>
          <p:nvPr/>
        </p:nvSpPr>
        <p:spPr>
          <a:xfrm>
            <a:off x="3860703" y="1743439"/>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Personalize workouts</a:t>
            </a:r>
            <a:endParaRPr lang="en-US" sz="2000" dirty="0"/>
          </a:p>
        </p:txBody>
      </p:sp>
      <p:sp>
        <p:nvSpPr>
          <p:cNvPr id="9" name="Text 5"/>
          <p:cNvSpPr/>
          <p:nvPr/>
        </p:nvSpPr>
        <p:spPr>
          <a:xfrm>
            <a:off x="3860703" y="2161480"/>
            <a:ext cx="2946326"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Personalized workout recommendations. AI-powered activity insights.</a:t>
            </a:r>
            <a:endParaRPr lang="en-US" sz="1400" dirty="0"/>
          </a:p>
        </p:txBody>
      </p:sp>
      <p:pic>
        <p:nvPicPr>
          <p:cNvPr id="10" name="Image 2" descr="preencoded.png"/>
          <p:cNvPicPr>
            <a:picLocks noChangeAspect="1"/>
          </p:cNvPicPr>
          <p:nvPr/>
        </p:nvPicPr>
        <p:blipFill>
          <a:blip r:embed="rId5"/>
          <a:stretch>
            <a:fillRect/>
          </a:stretch>
        </p:blipFill>
        <p:spPr>
          <a:xfrm>
            <a:off x="609585" y="3469878"/>
            <a:ext cx="355591" cy="355600"/>
          </a:xfrm>
          <a:prstGeom prst="rect">
            <a:avLst/>
          </a:prstGeom>
        </p:spPr>
      </p:pic>
      <p:sp>
        <p:nvSpPr>
          <p:cNvPr id="11" name="Text 6"/>
          <p:cNvSpPr/>
          <p:nvPr/>
        </p:nvSpPr>
        <p:spPr>
          <a:xfrm>
            <a:off x="609585" y="3982112"/>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Keep plans visible</a:t>
            </a:r>
            <a:endParaRPr lang="en-US" sz="2000" dirty="0"/>
          </a:p>
        </p:txBody>
      </p:sp>
      <p:sp>
        <p:nvSpPr>
          <p:cNvPr id="12" name="Text 7"/>
          <p:cNvSpPr/>
          <p:nvPr/>
        </p:nvSpPr>
        <p:spPr>
          <a:xfrm>
            <a:off x="609585" y="4400153"/>
            <a:ext cx="2946326"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Reminders and notifications.</a:t>
            </a:r>
            <a:endParaRPr lang="en-US" sz="1400" dirty="0"/>
          </a:p>
        </p:txBody>
      </p:sp>
      <p:pic>
        <p:nvPicPr>
          <p:cNvPr id="13" name="Image 3" descr="preencoded.png"/>
          <p:cNvPicPr>
            <a:picLocks noChangeAspect="1"/>
          </p:cNvPicPr>
          <p:nvPr/>
        </p:nvPicPr>
        <p:blipFill>
          <a:blip r:embed="rId6"/>
          <a:stretch>
            <a:fillRect/>
          </a:stretch>
        </p:blipFill>
        <p:spPr>
          <a:xfrm>
            <a:off x="3860703" y="3469878"/>
            <a:ext cx="355591" cy="355600"/>
          </a:xfrm>
          <a:prstGeom prst="rect">
            <a:avLst/>
          </a:prstGeom>
        </p:spPr>
      </p:pic>
      <p:sp>
        <p:nvSpPr>
          <p:cNvPr id="14" name="Text 8"/>
          <p:cNvSpPr/>
          <p:nvPr/>
        </p:nvSpPr>
        <p:spPr>
          <a:xfrm>
            <a:off x="3860703" y="3982112"/>
            <a:ext cx="2946326" cy="279400"/>
          </a:xfrm>
          <a:prstGeom prst="rect">
            <a:avLst/>
          </a:prstGeom>
          <a:noFill/>
          <a:ln/>
        </p:spPr>
        <p:txBody>
          <a:bodyPr wrap="none" lIns="0" tIns="0" rIns="0" bIns="0" rtlCol="0" anchor="t"/>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Go mobile</a:t>
            </a:r>
            <a:endParaRPr lang="en-US" sz="2000" dirty="0"/>
          </a:p>
        </p:txBody>
      </p:sp>
      <p:sp>
        <p:nvSpPr>
          <p:cNvPr id="15" name="Text 9"/>
          <p:cNvSpPr/>
          <p:nvPr/>
        </p:nvSpPr>
        <p:spPr>
          <a:xfrm>
            <a:off x="3860703" y="4400153"/>
            <a:ext cx="2946326"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Manrope" pitchFamily="34" charset="0"/>
                <a:ea typeface="Manrope" pitchFamily="34" charset="-122"/>
                <a:cs typeface="Manrope" pitchFamily="34" charset="-120"/>
              </a:rPr>
              <a:t>Mobile app support.</a:t>
            </a:r>
            <a:endParaRPr lang="en-US" sz="1400" dirty="0"/>
          </a:p>
        </p:txBody>
      </p:sp>
      <p:sp>
        <p:nvSpPr>
          <p:cNvPr id="16" name="Text 10"/>
          <p:cNvSpPr/>
          <p:nvPr/>
        </p:nvSpPr>
        <p:spPr>
          <a:xfrm>
            <a:off x="609585" y="5814484"/>
            <a:ext cx="6197445" cy="558800"/>
          </a:xfrm>
          <a:prstGeom prst="rect">
            <a:avLst/>
          </a:prstGeom>
          <a:noFill/>
          <a:ln/>
        </p:spPr>
        <p:txBody>
          <a:bodyPr wrap="square" lIns="0" tIns="0" rIns="0" bIns="0" rtlCol="0" anchor="t">
            <a:normAutofit lnSpcReduction="10000"/>
          </a:bodyPr>
          <a:lstStyle/>
          <a:p>
            <a:pPr marL="0" indent="0" algn="l">
              <a:lnSpc>
                <a:spcPct val="92000"/>
              </a:lnSpc>
              <a:buNone/>
            </a:pPr>
            <a:r>
              <a:rPr lang="en-US" sz="2000" b="1" dirty="0">
                <a:solidFill>
                  <a:srgbClr val="FFFFFF"/>
                </a:solidFill>
                <a:latin typeface="Manrope Bold" pitchFamily="34" charset="0"/>
                <a:ea typeface="Manrope Bold" pitchFamily="34" charset="-122"/>
                <a:cs typeface="Manrope Bold" pitchFamily="34" charset="-120"/>
              </a:rPr>
              <a:t>Plan Your Fitness. Track Your Progress. Achieve Your Goals.</a:t>
            </a:r>
            <a:endParaRPr lang="en-US" sz="2000" dirty="0"/>
          </a:p>
        </p:txBody>
      </p:sp>
      <p:pic>
        <p:nvPicPr>
          <p:cNvPr id="17" name="Image 4" descr="preencoded.png"/>
          <p:cNvPicPr>
            <a:picLocks noChangeAspect="1"/>
          </p:cNvPicPr>
          <p:nvPr/>
        </p:nvPicPr>
        <p:blipFill>
          <a:blip r:embed="rId7"/>
          <a:stretch>
            <a:fillRect/>
          </a:stretch>
        </p:blipFill>
        <p:spPr>
          <a:xfrm>
            <a:off x="7315017" y="0"/>
            <a:ext cx="487667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2DCAC5-B1BD-18C5-D37C-39C00041143B}"/>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2128084078"/>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75</TotalTime>
  <Words>503</Words>
  <Application>Microsoft Office PowerPoint</Application>
  <PresentationFormat>Widescreen</PresentationFormat>
  <Paragraphs>84</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System Font Regular</vt:lpstr>
      <vt:lpstr>Neue Haas Grotesk Text Pro</vt:lpstr>
      <vt:lpstr>Manrope</vt:lpstr>
      <vt:lpstr>Arial</vt:lpstr>
      <vt:lpstr>Manrope SemiBold</vt:lpstr>
      <vt:lpstr>Manrope Bold</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PRO</dc:creator>
  <cp:lastModifiedBy>Yakshit Ratan Deep</cp:lastModifiedBy>
  <cp:revision>4</cp:revision>
  <dcterms:created xsi:type="dcterms:W3CDTF">2026-10-10T04:47:21Z</dcterms:created>
  <dcterms:modified xsi:type="dcterms:W3CDTF">2026-10-10T08:25:07Z</dcterms:modified>
</cp:coreProperties>
</file>